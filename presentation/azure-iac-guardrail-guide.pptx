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5" d="100"/>
          <a:sy n="155" d="100"/>
        </p:scale>
        <p:origin x="4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kicker-label">
            <a:extLst>
              <a:ext uri="{FF2B5EF4-FFF2-40B4-BE49-F238E27FC236}">
                <a16:creationId xmlns:a16="http://schemas.microsoft.com/office/drawing/2014/main" id="{398EA2E2-EE52-4B1C-AD91-6C19E8679F78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DEVELOPER JOURNEY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256A4D8-6AE0-4D0D-BF59-C4FC29D0D474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55D206-E7EB-4F4D-973C-404DB974ABD4}"/>
              </a:ext>
            </a:extLst>
          </p:cNvPr>
          <p:cNvSpPr>
            <a:spLocks noGrp="1"/>
          </p:cNvSpPr>
          <p:nvPr/>
        </p:nvSpPr>
        <p:spPr>
          <a:xfrm>
            <a:off x="1123950" y="542925"/>
            <a:ext cx="9906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From Terraform authoring to review-ready 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25A2AF-C2BD-4CD8-AA02-3F4A20796B21}"/>
              </a:ext>
            </a:extLst>
          </p:cNvPr>
          <p:cNvSpPr>
            <a:spLocks noGrp="1"/>
          </p:cNvSpPr>
          <p:nvPr/>
        </p:nvSpPr>
        <p:spPr>
          <a:xfrm>
            <a:off x="1123950" y="100012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Choose the lightest scan that answers the engineering question, then escalate to resolved-plan review.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58F23-A4E4-469A-B61F-F71EC10F0B4B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46B0F97-BF49-4B23-BEE9-28EDC3266B9D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590800" cy="3333750"/>
          </a:xfrm>
          <a:prstGeom prst="roundRect">
            <a:avLst>
              <a:gd name="adj" fmla="val 2941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0997C6-C7A3-473E-9B55-ACD5E4DDDCD3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2590800" cy="66675"/>
          </a:xfrm>
          <a:prstGeom prst="roundRect">
            <a:avLst>
              <a:gd name="adj" fmla="val 50000"/>
            </a:avLst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099483-DC3C-4B4E-9204-DCE831CAF8BF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32C5FF"/>
            </a:solidFill>
            <a:prstDash val="solid"/>
          </a:ln>
        </p:spPr>
      </p:sp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52475" y="2181225"/>
            <a:ext cx="228600" cy="228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B1A147-7F7B-4658-90A7-2D380372A277}"/>
              </a:ext>
            </a:extLst>
          </p:cNvPr>
          <p:cNvSpPr>
            <a:spLocks noGrp="1"/>
          </p:cNvSpPr>
          <p:nvPr/>
        </p:nvSpPr>
        <p:spPr>
          <a:xfrm>
            <a:off x="2533650" y="2095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8ED2CB-1BF9-4A92-BD01-1EAF3A55CA0C}"/>
              </a:ext>
            </a:extLst>
          </p:cNvPr>
          <p:cNvSpPr>
            <a:spLocks noGrp="1"/>
          </p:cNvSpPr>
          <p:nvPr/>
        </p:nvSpPr>
        <p:spPr>
          <a:xfrm>
            <a:off x="647700" y="2676525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Configure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A87FD2-DDE2-45C2-AA6C-4D9FC6E46859}"/>
              </a:ext>
            </a:extLst>
          </p:cNvPr>
          <p:cNvSpPr>
            <a:spLocks noGrp="1"/>
          </p:cNvSpPr>
          <p:nvPr/>
        </p:nvSpPr>
        <p:spPr>
          <a:xfrm>
            <a:off x="647700" y="3114675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C65129-A409-4550-964F-C9230527A2BC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rPr>
              <a:t>Azure Pre-configuration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F94E0D-E730-484F-8991-D3C0B50D0209}"/>
              </a:ext>
            </a:extLst>
          </p:cNvPr>
          <p:cNvSpPr>
            <a:spLocks noGrp="1"/>
          </p:cNvSpPr>
          <p:nvPr/>
        </p:nvSpPr>
        <p:spPr>
          <a:xfrm>
            <a:off x="647700" y="3733800"/>
            <a:ext cx="22098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Root module, regions, tags, exceptions, and cost assumptions.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E14D88-25BB-43DC-BAD2-3485BB85FB08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590800" cy="3333750"/>
          </a:xfrm>
          <a:prstGeom prst="roundRect">
            <a:avLst>
              <a:gd name="adj" fmla="val 2941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F9A7DB-894C-431A-A083-15F67148922E}"/>
              </a:ext>
            </a:extLst>
          </p:cNvPr>
          <p:cNvSpPr>
            <a:spLocks noGrp="1"/>
          </p:cNvSpPr>
          <p:nvPr/>
        </p:nvSpPr>
        <p:spPr>
          <a:xfrm>
            <a:off x="3352800" y="1809750"/>
            <a:ext cx="2590800" cy="66675"/>
          </a:xfrm>
          <a:prstGeom prst="roundRect">
            <a:avLst>
              <a:gd name="adj" fmla="val 50000"/>
            </a:avLst>
          </a:prstGeom>
          <a:solidFill>
            <a:srgbClr val="1683FF"/>
          </a:solidFill>
          <a:ln w="0">
            <a:solidFill>
              <a:srgbClr val="1683FF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A7C4190-A4CC-4BAC-AE37-B482EEC5D7D6}"/>
              </a:ext>
            </a:extLst>
          </p:cNvPr>
          <p:cNvSpPr>
            <a:spLocks noGrp="1"/>
          </p:cNvSpPr>
          <p:nvPr/>
        </p:nvSpPr>
        <p:spPr>
          <a:xfrm>
            <a:off x="3543300" y="207645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1683FF"/>
            </a:solidFill>
            <a:prstDash val="solid"/>
          </a:ln>
        </p:spPr>
      </p:sp>
      <p:pic>
        <p:nvPicPr>
          <p:cNvPr id="19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648075" y="2181225"/>
            <a:ext cx="228600" cy="2286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64C5381-AF51-4875-82B6-D01C9286646A}"/>
              </a:ext>
            </a:extLst>
          </p:cNvPr>
          <p:cNvSpPr>
            <a:spLocks noGrp="1"/>
          </p:cNvSpPr>
          <p:nvPr/>
        </p:nvSpPr>
        <p:spPr>
          <a:xfrm>
            <a:off x="5429250" y="2095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68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3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BF2967-157E-4DF6-B4E6-7FCD9C762A7C}"/>
              </a:ext>
            </a:extLst>
          </p:cNvPr>
          <p:cNvSpPr>
            <a:spLocks noGrp="1"/>
          </p:cNvSpPr>
          <p:nvPr/>
        </p:nvSpPr>
        <p:spPr>
          <a:xfrm>
            <a:off x="3543300" y="2676525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Scan source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B5663B-96D6-4D19-B38E-2CCC2734ECCC}"/>
              </a:ext>
            </a:extLst>
          </p:cNvPr>
          <p:cNvSpPr>
            <a:spLocks noGrp="1"/>
          </p:cNvSpPr>
          <p:nvPr/>
        </p:nvSpPr>
        <p:spPr>
          <a:xfrm>
            <a:off x="3543300" y="3114675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9DB4BD-6E72-4EEA-B759-946871BDFC86}"/>
              </a:ext>
            </a:extLst>
          </p:cNvPr>
          <p:cNvSpPr>
            <a:spLocks noGrp="1"/>
          </p:cNvSpPr>
          <p:nvPr/>
        </p:nvSpPr>
        <p:spPr>
          <a:xfrm>
            <a:off x="3676650" y="318135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rPr>
              <a:t>Scan Terraform Files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5EB842-4A71-4835-965B-65B42AB0CFB4}"/>
              </a:ext>
            </a:extLst>
          </p:cNvPr>
          <p:cNvSpPr>
            <a:spLocks noGrp="1"/>
          </p:cNvSpPr>
          <p:nvPr/>
        </p:nvSpPr>
        <p:spPr>
          <a:xfrm>
            <a:off x="3543300" y="3733800"/>
            <a:ext cx="22098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Immediate offline feedback from Terraform source and supported values.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9199F30-2D9A-4E04-BAB0-A06D2401869F}"/>
              </a:ext>
            </a:extLst>
          </p:cNvPr>
          <p:cNvSpPr>
            <a:spLocks noGrp="1"/>
          </p:cNvSpPr>
          <p:nvPr/>
        </p:nvSpPr>
        <p:spPr>
          <a:xfrm>
            <a:off x="6248400" y="1809750"/>
            <a:ext cx="2590800" cy="3333750"/>
          </a:xfrm>
          <a:prstGeom prst="roundRect">
            <a:avLst>
              <a:gd name="adj" fmla="val 2941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4F30D56-010F-488D-B2B6-D6A07786F790}"/>
              </a:ext>
            </a:extLst>
          </p:cNvPr>
          <p:cNvSpPr>
            <a:spLocks noGrp="1"/>
          </p:cNvSpPr>
          <p:nvPr/>
        </p:nvSpPr>
        <p:spPr>
          <a:xfrm>
            <a:off x="6248400" y="1809750"/>
            <a:ext cx="2590800" cy="66675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0">
            <a:solidFill>
              <a:srgbClr val="FFB547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B9B0F1-134D-4FF0-8254-E01BE08F3731}"/>
              </a:ext>
            </a:extLst>
          </p:cNvPr>
          <p:cNvSpPr>
            <a:spLocks noGrp="1"/>
          </p:cNvSpPr>
          <p:nvPr/>
        </p:nvSpPr>
        <p:spPr>
          <a:xfrm>
            <a:off x="6438900" y="207645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FFB547"/>
            </a:solidFill>
            <a:prstDash val="solid"/>
          </a:ln>
        </p:spPr>
      </p:sp>
      <p:pic>
        <p:nvPicPr>
          <p:cNvPr id="28" name="Graphic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543675" y="2181225"/>
            <a:ext cx="228600" cy="2286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7D57382-CE7F-4CA8-BCD0-9CBEB9F5382C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28C36E-B9A5-4C5A-A5D2-E0F7397FE7DB}"/>
              </a:ext>
            </a:extLst>
          </p:cNvPr>
          <p:cNvSpPr>
            <a:spLocks noGrp="1"/>
          </p:cNvSpPr>
          <p:nvPr/>
        </p:nvSpPr>
        <p:spPr>
          <a:xfrm>
            <a:off x="6438900" y="2676525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Resolve with plan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20BAAA1-9A1F-41A3-9762-ADEB9199DF77}"/>
              </a:ext>
            </a:extLst>
          </p:cNvPr>
          <p:cNvSpPr>
            <a:spLocks noGrp="1"/>
          </p:cNvSpPr>
          <p:nvPr/>
        </p:nvSpPr>
        <p:spPr>
          <a:xfrm>
            <a:off x="6438900" y="3114675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3FA7A6-7DB0-408F-B318-9074F6878B5E}"/>
              </a:ext>
            </a:extLst>
          </p:cNvPr>
          <p:cNvSpPr>
            <a:spLocks noGrp="1"/>
          </p:cNvSpPr>
          <p:nvPr/>
        </p:nvSpPr>
        <p:spPr>
          <a:xfrm>
            <a:off x="6572250" y="318135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rPr>
              <a:t>Scan Existing Terraform Plan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2D3082-97C2-45C9-9AEF-F0F6E97744D2}"/>
              </a:ext>
            </a:extLst>
          </p:cNvPr>
          <p:cNvSpPr>
            <a:spLocks noGrp="1"/>
          </p:cNvSpPr>
          <p:nvPr/>
        </p:nvSpPr>
        <p:spPr>
          <a:xfrm>
            <a:off x="6438900" y="3733800"/>
            <a:ext cx="22098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Exact instances, computed values, actions, relationships, and plan-only controls.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413D10-7A57-4E42-BE80-8EF4F51F21C8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2590800" cy="3333750"/>
          </a:xfrm>
          <a:prstGeom prst="roundRect">
            <a:avLst>
              <a:gd name="adj" fmla="val 2941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8FDFA8-209A-489D-BAFB-3D9727A6EB8A}"/>
              </a:ext>
            </a:extLst>
          </p:cNvPr>
          <p:cNvSpPr>
            <a:spLocks noGrp="1"/>
          </p:cNvSpPr>
          <p:nvPr/>
        </p:nvSpPr>
        <p:spPr>
          <a:xfrm>
            <a:off x="9144000" y="1809750"/>
            <a:ext cx="2590800" cy="66675"/>
          </a:xfrm>
          <a:prstGeom prst="roundRect">
            <a:avLst>
              <a:gd name="adj" fmla="val 50000"/>
            </a:avLst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965EB6E-CE6F-4F47-B50E-55B631DBFC1F}"/>
              </a:ext>
            </a:extLst>
          </p:cNvPr>
          <p:cNvSpPr>
            <a:spLocks noGrp="1"/>
          </p:cNvSpPr>
          <p:nvPr/>
        </p:nvSpPr>
        <p:spPr>
          <a:xfrm>
            <a:off x="9334500" y="207645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2CCB8C"/>
            </a:solidFill>
            <a:prstDash val="solid"/>
          </a:ln>
        </p:spPr>
      </p:sp>
      <p:pic>
        <p:nvPicPr>
          <p:cNvPr id="37" name="Graphic 3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439275" y="2181225"/>
            <a:ext cx="228600" cy="2286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62D7B0A-2BEB-4E0F-9872-1BDB9DDC1660}"/>
              </a:ext>
            </a:extLst>
          </p:cNvPr>
          <p:cNvSpPr>
            <a:spLocks noGrp="1"/>
          </p:cNvSpPr>
          <p:nvPr/>
        </p:nvSpPr>
        <p:spPr>
          <a:xfrm>
            <a:off x="11220450" y="2095500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29B2EB-FE1B-46A0-BB72-8562E25D88D2}"/>
              </a:ext>
            </a:extLst>
          </p:cNvPr>
          <p:cNvSpPr>
            <a:spLocks noGrp="1"/>
          </p:cNvSpPr>
          <p:nvPr/>
        </p:nvSpPr>
        <p:spPr>
          <a:xfrm>
            <a:off x="9334500" y="2676525"/>
            <a:ext cx="2209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Review + evidence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BEEAACD-925D-43AB-A012-1E8E5BBFC49E}"/>
              </a:ext>
            </a:extLst>
          </p:cNvPr>
          <p:cNvSpPr>
            <a:spLocks noGrp="1"/>
          </p:cNvSpPr>
          <p:nvPr/>
        </p:nvSpPr>
        <p:spPr>
          <a:xfrm>
            <a:off x="9334500" y="3114675"/>
            <a:ext cx="220980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41590-D838-453B-AEA6-1BAC5B0DC74C}"/>
              </a:ext>
            </a:extLst>
          </p:cNvPr>
          <p:cNvSpPr>
            <a:spLocks noGrp="1"/>
          </p:cNvSpPr>
          <p:nvPr/>
        </p:nvSpPr>
        <p:spPr>
          <a:xfrm>
            <a:off x="9467850" y="318135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2CCB8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CCB8C"/>
                </a:solidFill>
                <a:latin typeface="Aptos Mono"/>
                <a:ea typeface="Aptos Mono"/>
                <a:cs typeface="Aptos Mono"/>
              </a:rPr>
              <a:t>Export Auditor Evidence Pack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1E94B7-7186-448E-B818-BA212FE0923D}"/>
              </a:ext>
            </a:extLst>
          </p:cNvPr>
          <p:cNvSpPr>
            <a:spLocks noGrp="1"/>
          </p:cNvSpPr>
          <p:nvPr/>
        </p:nvSpPr>
        <p:spPr>
          <a:xfrm>
            <a:off x="9334500" y="3733800"/>
            <a:ext cx="22098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Review remediation and export PDF, JSON, and Markdown evidence.</a:t>
            </a:r>
          </a:p>
        </p:txBody>
      </p:sp>
      <p:cxnSp>
        <p:nvCxnSpPr>
          <p:cNvPr id="43" name="Straight Arrow Connector 42"/>
          <p:cNvCxnSpPr>
            <a:stCxn id="7" idx="3"/>
            <a:endCxn id="16" idx="1"/>
          </p:cNvCxnSpPr>
          <p:nvPr/>
        </p:nvCxnSpPr>
        <p:spPr>
          <a:xfrm>
            <a:off x="3048000" y="3476625"/>
            <a:ext cx="3048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44" name="Straight Arrow Connector 43"/>
          <p:cNvCxnSpPr>
            <a:stCxn id="16" idx="3"/>
            <a:endCxn id="25" idx="1"/>
          </p:cNvCxnSpPr>
          <p:nvPr/>
        </p:nvCxnSpPr>
        <p:spPr>
          <a:xfrm>
            <a:off x="5943600" y="3476625"/>
            <a:ext cx="304800" cy="0"/>
          </a:xfrm>
          <a:prstGeom prst="straightConnector1">
            <a:avLst/>
          </a:prstGeom>
          <a:ln w="19050">
            <a:solidFill>
              <a:srgbClr val="FFB547"/>
            </a:solidFill>
            <a:prstDash val="solid"/>
            <a:tailEnd type="arrow" w="med" len="med"/>
          </a:ln>
        </p:spPr>
      </p:cxnSp>
      <p:cxnSp>
        <p:nvCxnSpPr>
          <p:cNvPr id="45" name="Straight Arrow Connector 44"/>
          <p:cNvCxnSpPr>
            <a:stCxn id="25" idx="3"/>
            <a:endCxn id="34" idx="1"/>
          </p:cNvCxnSpPr>
          <p:nvPr/>
        </p:nvCxnSpPr>
        <p:spPr>
          <a:xfrm>
            <a:off x="8839200" y="3476625"/>
            <a:ext cx="3048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40D8618-602D-422F-A7E4-660091EE046B}"/>
              </a:ext>
            </a:extLst>
          </p:cNvPr>
          <p:cNvSpPr>
            <a:spLocks noGrp="1"/>
          </p:cNvSpPr>
          <p:nvPr/>
        </p:nvSpPr>
        <p:spPr>
          <a:xfrm>
            <a:off x="457200" y="5429250"/>
            <a:ext cx="11277600" cy="781050"/>
          </a:xfrm>
          <a:prstGeom prst="roundRect">
            <a:avLst>
              <a:gd name="adj" fmla="val 9756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5B59D7-4EA0-47EF-8589-016814293E4E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85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25 Azure services have executable controls  |  139 controls  |  Guardrail never runs terraform apply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DF9004A-F3F7-4C2F-BB8D-987E892E921C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Quick start: choose static feedback or resolved-plan assurance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3E46B6E-455A-435A-B2EB-1B59A084B343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694392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kicker-label">
            <a:extLst>
              <a:ext uri="{FF2B5EF4-FFF2-40B4-BE49-F238E27FC236}">
                <a16:creationId xmlns:a16="http://schemas.microsoft.com/office/drawing/2014/main" id="{0863500C-46BC-4B4C-9D73-C097416497B4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INSTALLATION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50142CE0-5BF6-485F-B416-6671504BD690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DC3BE9-A506-477D-9F8C-82CB2C23B054}"/>
              </a:ext>
            </a:extLst>
          </p:cNvPr>
          <p:cNvSpPr>
            <a:spLocks noGrp="1"/>
          </p:cNvSpPr>
          <p:nvPr/>
        </p:nvSpPr>
        <p:spPr>
          <a:xfrm>
            <a:off x="1123950" y="542925"/>
            <a:ext cx="9906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Install the approved VSIX and start reviewing in minutes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5E1200-961C-4328-8FBB-B8D43DFC84E1}"/>
              </a:ext>
            </a:extLst>
          </p:cNvPr>
          <p:cNvSpPr>
            <a:spLocks noGrp="1"/>
          </p:cNvSpPr>
          <p:nvPr/>
        </p:nvSpPr>
        <p:spPr>
          <a:xfrm>
            <a:off x="1123950" y="100012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No Azure sign-in is required for offline static scanning; Terraform is only needed for module and plan workflows.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64D23-7B60-4B0D-B9C3-7FDDB782C548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E34908-13CD-48CB-953C-98377943DC50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362200" cy="2381250"/>
          </a:xfrm>
          <a:prstGeom prst="roundRect">
            <a:avLst>
              <a:gd name="adj" fmla="val 3226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9D404DA-F2CF-42D2-B4C9-485CF7E22DCD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495300" cy="495300"/>
          </a:xfrm>
          <a:prstGeom prst="ellipse">
            <a:avLst/>
          </a:prstGeom>
          <a:solidFill>
            <a:srgbClr val="081D33"/>
          </a:solidFill>
          <a:ln w="9525">
            <a:solidFill>
              <a:srgbClr val="32C5FF"/>
            </a:solidFill>
            <a:prstDash val="solid"/>
          </a:ln>
        </p:spPr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00125" y="2295525"/>
            <a:ext cx="285750" cy="285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1A45589-1F5F-4266-B9E2-001DE190EE48}"/>
              </a:ext>
            </a:extLst>
          </p:cNvPr>
          <p:cNvSpPr>
            <a:spLocks noGrp="1"/>
          </p:cNvSpPr>
          <p:nvPr/>
        </p:nvSpPr>
        <p:spPr>
          <a:xfrm>
            <a:off x="2457450" y="2219325"/>
            <a:ext cx="381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7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F0736E-3189-4CE6-909A-A7C437DAB10E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Get the release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6F74F-CD62-4BEF-AC00-94F40E071EEA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19431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Download the approved</a:t>
            </a:r>
          </a:p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azure-iac-guardrail-&lt;version&gt;.vsix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0224A1-4A66-4FEF-86E3-59CBC11126CC}"/>
              </a:ext>
            </a:extLst>
          </p:cNvPr>
          <p:cNvSpPr>
            <a:spLocks noGrp="1"/>
          </p:cNvSpPr>
          <p:nvPr/>
        </p:nvSpPr>
        <p:spPr>
          <a:xfrm>
            <a:off x="3429000" y="1962150"/>
            <a:ext cx="2362200" cy="2381250"/>
          </a:xfrm>
          <a:prstGeom prst="roundRect">
            <a:avLst>
              <a:gd name="adj" fmla="val 3226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8399CD-A3A7-4351-94B5-F5864C8EC475}"/>
              </a:ext>
            </a:extLst>
          </p:cNvPr>
          <p:cNvSpPr>
            <a:spLocks noGrp="1"/>
          </p:cNvSpPr>
          <p:nvPr/>
        </p:nvSpPr>
        <p:spPr>
          <a:xfrm>
            <a:off x="3638550" y="2190750"/>
            <a:ext cx="495300" cy="495300"/>
          </a:xfrm>
          <a:prstGeom prst="ellipse">
            <a:avLst/>
          </a:prstGeom>
          <a:solidFill>
            <a:srgbClr val="081D33"/>
          </a:solidFill>
          <a:ln w="9525">
            <a:solidFill>
              <a:srgbClr val="1683FF"/>
            </a:solidFill>
            <a:prstDash val="solid"/>
          </a:ln>
        </p:spPr>
      </p:sp>
      <p:pic>
        <p:nvPicPr>
          <p:cNvPr id="15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743325" y="2295525"/>
            <a:ext cx="285750" cy="2857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6DE06D4-52FB-4AD1-9C1E-A94BE4D9F578}"/>
              </a:ext>
            </a:extLst>
          </p:cNvPr>
          <p:cNvSpPr>
            <a:spLocks noGrp="1"/>
          </p:cNvSpPr>
          <p:nvPr/>
        </p:nvSpPr>
        <p:spPr>
          <a:xfrm>
            <a:off x="5200650" y="2219325"/>
            <a:ext cx="381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75" b="1">
                <a:solidFill>
                  <a:srgbClr val="1683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3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11640F-766C-499D-837C-0717EE314C56}"/>
              </a:ext>
            </a:extLst>
          </p:cNvPr>
          <p:cNvSpPr>
            <a:spLocks noGrp="1"/>
          </p:cNvSpPr>
          <p:nvPr/>
        </p:nvSpPr>
        <p:spPr>
          <a:xfrm>
            <a:off x="3638550" y="289560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Install in VS 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49134A-E192-4C79-994B-76A13D428D9F}"/>
              </a:ext>
            </a:extLst>
          </p:cNvPr>
          <p:cNvSpPr>
            <a:spLocks noGrp="1"/>
          </p:cNvSpPr>
          <p:nvPr/>
        </p:nvSpPr>
        <p:spPr>
          <a:xfrm>
            <a:off x="3638550" y="3352800"/>
            <a:ext cx="19431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Extensions &gt; Views and More Actions (...)</a:t>
            </a:r>
          </a:p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&gt; Install from VSIX...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7A3B68E-B9F3-4D18-B18A-7C5CF14D2EF7}"/>
              </a:ext>
            </a:extLst>
          </p:cNvPr>
          <p:cNvSpPr>
            <a:spLocks noGrp="1"/>
          </p:cNvSpPr>
          <p:nvPr/>
        </p:nvSpPr>
        <p:spPr>
          <a:xfrm>
            <a:off x="6172200" y="1962150"/>
            <a:ext cx="2362200" cy="2381250"/>
          </a:xfrm>
          <a:prstGeom prst="roundRect">
            <a:avLst>
              <a:gd name="adj" fmla="val 3226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E37980-9381-438A-AC07-49335733DA1F}"/>
              </a:ext>
            </a:extLst>
          </p:cNvPr>
          <p:cNvSpPr>
            <a:spLocks noGrp="1"/>
          </p:cNvSpPr>
          <p:nvPr/>
        </p:nvSpPr>
        <p:spPr>
          <a:xfrm>
            <a:off x="6381750" y="2190750"/>
            <a:ext cx="495300" cy="495300"/>
          </a:xfrm>
          <a:prstGeom prst="ellipse">
            <a:avLst/>
          </a:prstGeom>
          <a:solidFill>
            <a:srgbClr val="081D33"/>
          </a:solidFill>
          <a:ln w="9525">
            <a:solidFill>
              <a:srgbClr val="FFB547"/>
            </a:solidFill>
            <a:prstDash val="solid"/>
          </a:ln>
        </p:spPr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86525" y="2295525"/>
            <a:ext cx="285750" cy="285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3617B40-FCD0-4B4F-AA2C-FB6E72079AD3}"/>
              </a:ext>
            </a:extLst>
          </p:cNvPr>
          <p:cNvSpPr>
            <a:spLocks noGrp="1"/>
          </p:cNvSpPr>
          <p:nvPr/>
        </p:nvSpPr>
        <p:spPr>
          <a:xfrm>
            <a:off x="7943850" y="2219325"/>
            <a:ext cx="381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7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E40D64-608D-41DB-9825-A506245E7D6A}"/>
              </a:ext>
            </a:extLst>
          </p:cNvPr>
          <p:cNvSpPr>
            <a:spLocks noGrp="1"/>
          </p:cNvSpPr>
          <p:nvPr/>
        </p:nvSpPr>
        <p:spPr>
          <a:xfrm>
            <a:off x="6381750" y="289560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Reload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FBBB03-463A-4851-B685-FD52ADE114BC}"/>
              </a:ext>
            </a:extLst>
          </p:cNvPr>
          <p:cNvSpPr>
            <a:spLocks noGrp="1"/>
          </p:cNvSpPr>
          <p:nvPr/>
        </p:nvSpPr>
        <p:spPr>
          <a:xfrm>
            <a:off x="6381750" y="3352800"/>
            <a:ext cx="19431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Reload VS Code when prompted and open your Terraform root module.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3E65C97-733D-4A60-9B70-165E8A840C88}"/>
              </a:ext>
            </a:extLst>
          </p:cNvPr>
          <p:cNvSpPr>
            <a:spLocks noGrp="1"/>
          </p:cNvSpPr>
          <p:nvPr/>
        </p:nvSpPr>
        <p:spPr>
          <a:xfrm>
            <a:off x="8915400" y="1962150"/>
            <a:ext cx="2362200" cy="2381250"/>
          </a:xfrm>
          <a:prstGeom prst="roundRect">
            <a:avLst>
              <a:gd name="adj" fmla="val 3226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FC5076A-88B0-4103-AA1B-1244097D9998}"/>
              </a:ext>
            </a:extLst>
          </p:cNvPr>
          <p:cNvSpPr>
            <a:spLocks noGrp="1"/>
          </p:cNvSpPr>
          <p:nvPr/>
        </p:nvSpPr>
        <p:spPr>
          <a:xfrm>
            <a:off x="9124950" y="2190750"/>
            <a:ext cx="495300" cy="495300"/>
          </a:xfrm>
          <a:prstGeom prst="ellipse">
            <a:avLst/>
          </a:prstGeom>
          <a:solidFill>
            <a:srgbClr val="081D33"/>
          </a:solidFill>
          <a:ln w="9525">
            <a:solidFill>
              <a:srgbClr val="2CCB8C"/>
            </a:solidFill>
            <a:prstDash val="solid"/>
          </a:ln>
        </p:spPr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229725" y="2295525"/>
            <a:ext cx="285750" cy="28575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4BBC3D0-17D0-4564-865E-8B3DBC0D4516}"/>
              </a:ext>
            </a:extLst>
          </p:cNvPr>
          <p:cNvSpPr>
            <a:spLocks noGrp="1"/>
          </p:cNvSpPr>
          <p:nvPr/>
        </p:nvSpPr>
        <p:spPr>
          <a:xfrm>
            <a:off x="10687050" y="2219325"/>
            <a:ext cx="381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7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D0E81D-2072-4953-A80C-E9B67CF15544}"/>
              </a:ext>
            </a:extLst>
          </p:cNvPr>
          <p:cNvSpPr>
            <a:spLocks noGrp="1"/>
          </p:cNvSpPr>
          <p:nvPr/>
        </p:nvSpPr>
        <p:spPr>
          <a:xfrm>
            <a:off x="9124950" y="2895600"/>
            <a:ext cx="1943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Open Guardrail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B326AD-0888-4E99-B9CF-D352EA561DA8}"/>
              </a:ext>
            </a:extLst>
          </p:cNvPr>
          <p:cNvSpPr>
            <a:spLocks noGrp="1"/>
          </p:cNvSpPr>
          <p:nvPr/>
        </p:nvSpPr>
        <p:spPr>
          <a:xfrm>
            <a:off x="9124950" y="3352800"/>
            <a:ext cx="19431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Press Ctrl+Shift+P and run</a:t>
            </a:r>
          </a:p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Azure IaC Guardrail commands.</a:t>
            </a:r>
          </a:p>
        </p:txBody>
      </p:sp>
      <p:cxnSp>
        <p:nvCxnSpPr>
          <p:cNvPr id="31" name="Straight Arrow Connector 30"/>
          <p:cNvCxnSpPr>
            <a:stCxn id="7" idx="3"/>
            <a:endCxn id="13" idx="1"/>
          </p:cNvCxnSpPr>
          <p:nvPr/>
        </p:nvCxnSpPr>
        <p:spPr>
          <a:xfrm>
            <a:off x="3048000" y="3152775"/>
            <a:ext cx="3810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32" name="Straight Arrow Connector 31"/>
          <p:cNvCxnSpPr>
            <a:stCxn id="13" idx="3"/>
            <a:endCxn id="19" idx="1"/>
          </p:cNvCxnSpPr>
          <p:nvPr/>
        </p:nvCxnSpPr>
        <p:spPr>
          <a:xfrm>
            <a:off x="5791200" y="3152775"/>
            <a:ext cx="3810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33" name="Straight Arrow Connector 32"/>
          <p:cNvCxnSpPr>
            <a:stCxn id="19" idx="3"/>
            <a:endCxn id="25" idx="1"/>
          </p:cNvCxnSpPr>
          <p:nvPr/>
        </p:nvCxnSpPr>
        <p:spPr>
          <a:xfrm>
            <a:off x="8534400" y="3152775"/>
            <a:ext cx="3810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164C467-DA75-4C57-A5D4-B7428276DE70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591800" cy="1066800"/>
          </a:xfrm>
          <a:prstGeom prst="roundRect">
            <a:avLst>
              <a:gd name="adj" fmla="val 7143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5E95BF-395F-47B9-BFD7-FF90BA7ED78A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TERMINAL OPTION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171869-44E2-44A1-A998-CC805A2D38C7}"/>
              </a:ext>
            </a:extLst>
          </p:cNvPr>
          <p:cNvSpPr>
            <a:spLocks noGrp="1"/>
          </p:cNvSpPr>
          <p:nvPr/>
        </p:nvSpPr>
        <p:spPr>
          <a:xfrm>
            <a:off x="914400" y="5124450"/>
            <a:ext cx="581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code --install-extension .\azure-iac-guardrail-&lt;version&gt;.vsix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330E0D3-2D58-4880-B019-84134D00F9A1}"/>
              </a:ext>
            </a:extLst>
          </p:cNvPr>
          <p:cNvSpPr>
            <a:spLocks noGrp="1"/>
          </p:cNvSpPr>
          <p:nvPr/>
        </p:nvSpPr>
        <p:spPr>
          <a:xfrm>
            <a:off x="7334250" y="4914900"/>
            <a:ext cx="1695450" cy="285750"/>
          </a:xfrm>
          <a:prstGeom prst="roundRect">
            <a:avLst>
              <a:gd name="adj" fmla="val 26667"/>
            </a:avLst>
          </a:prstGeom>
          <a:solidFill>
            <a:srgbClr val="1683FF"/>
          </a:solidFill>
          <a:ln w="9525">
            <a:solidFill>
              <a:srgbClr val="1683F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FCC232D-3FC0-4496-B5B4-EBCAA894D238}"/>
              </a:ext>
            </a:extLst>
          </p:cNvPr>
          <p:cNvSpPr>
            <a:spLocks noGrp="1"/>
          </p:cNvSpPr>
          <p:nvPr/>
        </p:nvSpPr>
        <p:spPr>
          <a:xfrm>
            <a:off x="7429500" y="49530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VS CODE 1.100+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65092B3-7CA9-475C-96DF-12FB92847C9C}"/>
              </a:ext>
            </a:extLst>
          </p:cNvPr>
          <p:cNvSpPr>
            <a:spLocks noGrp="1"/>
          </p:cNvSpPr>
          <p:nvPr/>
        </p:nvSpPr>
        <p:spPr>
          <a:xfrm>
            <a:off x="9201150" y="4914900"/>
            <a:ext cx="1809750" cy="285750"/>
          </a:xfrm>
          <a:prstGeom prst="roundRect">
            <a:avLst>
              <a:gd name="adj" fmla="val 26667"/>
            </a:avLst>
          </a:prstGeom>
          <a:solidFill>
            <a:srgbClr val="FFB547"/>
          </a:solidFill>
          <a:ln w="9525">
            <a:solidFill>
              <a:srgbClr val="FFB547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292BD81-B524-4D8C-BBC4-553661A2D98F}"/>
              </a:ext>
            </a:extLst>
          </p:cNvPr>
          <p:cNvSpPr>
            <a:spLocks noGrp="1"/>
          </p:cNvSpPr>
          <p:nvPr/>
        </p:nvSpPr>
        <p:spPr>
          <a:xfrm>
            <a:off x="9296400" y="495300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TERRAFORM FOR PLANS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5E68E9B-D825-4CD3-9FB8-EC9DB3F3D1FC}"/>
              </a:ext>
            </a:extLst>
          </p:cNvPr>
          <p:cNvSpPr>
            <a:spLocks noGrp="1"/>
          </p:cNvSpPr>
          <p:nvPr/>
        </p:nvSpPr>
        <p:spPr>
          <a:xfrm>
            <a:off x="7334250" y="5314950"/>
            <a:ext cx="3676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9C2"/>
                </a:solidFill>
                <a:latin typeface="Aptos"/>
                <a:ea typeface="Aptos"/>
                <a:cs typeface="Aptos"/>
              </a:rPr>
              <a:t>Upgrade by installing the newer approved VSIX over the existing version.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FBE8CC-9BC9-4E40-9679-0CE1809E9773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Installation: approved VSIX deployment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81C19D7-1494-40C6-90CE-5067FCDEB9E4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121568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kicker-label">
            <a:extLst>
              <a:ext uri="{FF2B5EF4-FFF2-40B4-BE49-F238E27FC236}">
                <a16:creationId xmlns:a16="http://schemas.microsoft.com/office/drawing/2014/main" id="{179AB294-A8B8-4511-BB63-ECAF4961EEBC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PRE-CONFIGURATION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1F5F141B-4DE0-4839-9A18-5C2FA1B3F700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DAC5A5-661E-4287-8859-94DE5AE7CF2B}"/>
              </a:ext>
            </a:extLst>
          </p:cNvPr>
          <p:cNvSpPr>
            <a:spLocks noGrp="1"/>
          </p:cNvSpPr>
          <p:nvPr/>
        </p:nvSpPr>
        <p:spPr>
          <a:xfrm>
            <a:off x="1123950" y="542925"/>
            <a:ext cx="9906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Encode team policy before the first finding appears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5A3407-C796-465A-A4CC-D6C4D4E38B70}"/>
              </a:ext>
            </a:extLst>
          </p:cNvPr>
          <p:cNvSpPr>
            <a:spLocks noGrp="1"/>
          </p:cNvSpPr>
          <p:nvPr/>
        </p:nvSpPr>
        <p:spPr>
          <a:xfrm>
            <a:off x="1123950" y="100012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 workspace profile makes region, tagging, exception, and Terraform-root decisions explicit and reviewable.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931D75-E06B-4B78-B2C6-69342892E4EB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8B1234-3B61-471F-BAA3-CE40AC542CCD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3238500" cy="3810000"/>
          </a:xfrm>
          <a:prstGeom prst="roundRect">
            <a:avLst>
              <a:gd name="adj" fmla="val 2353"/>
            </a:avLst>
          </a:prstGeom>
          <a:solidFill>
            <a:srgbClr val="081D33"/>
          </a:solidFill>
          <a:ln w="19050">
            <a:solidFill>
              <a:srgbClr val="32C5FF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477142-4304-4CDB-B63B-F1BDBCF9BFCF}"/>
              </a:ext>
            </a:extLst>
          </p:cNvPr>
          <p:cNvSpPr>
            <a:spLocks noGrp="1"/>
          </p:cNvSpPr>
          <p:nvPr/>
        </p:nvSpPr>
        <p:spPr>
          <a:xfrm>
            <a:off x="4695825" y="2038350"/>
            <a:ext cx="476250" cy="4762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32C5FF"/>
            </a:solidFill>
            <a:prstDash val="solid"/>
          </a:ln>
        </p:spPr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00600" y="2143125"/>
            <a:ext cx="266700" cy="2667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8EFFA5-6F79-438C-958C-85B9D2E2E8B7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209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F7FB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7FBFF"/>
                </a:solidFill>
                <a:latin typeface="Aptos Mono"/>
                <a:ea typeface="Aptos Mono"/>
                <a:cs typeface="Aptos Mono"/>
              </a:rPr>
              <a:t>.azure-iac-guardrail/profile.json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EEB1F-2735-4CE9-A61E-62EC7FE0115B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2CCB8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2CCB8C"/>
                </a:solidFill>
                <a:latin typeface="Aptos Mono"/>
                <a:ea typeface="Aptos Mono"/>
                <a:cs typeface="Aptos Mono"/>
              </a:rPr>
              <a:t>"terraformRoot": "./infra"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F6F7AD-9E2F-429F-91C3-69DAFF840643}"/>
              </a:ext>
            </a:extLst>
          </p:cNvPr>
          <p:cNvSpPr>
            <a:spLocks noGrp="1"/>
          </p:cNvSpPr>
          <p:nvPr/>
        </p:nvSpPr>
        <p:spPr>
          <a:xfrm>
            <a:off x="4762500" y="319087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"approvedRegions": ["uksouth"]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AD6C31-B031-47AA-87B8-E8BB398CD865}"/>
              </a:ext>
            </a:extLst>
          </p:cNvPr>
          <p:cNvSpPr>
            <a:spLocks noGrp="1"/>
          </p:cNvSpPr>
          <p:nvPr/>
        </p:nvSpPr>
        <p:spPr>
          <a:xfrm>
            <a:off x="4762500" y="36576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"requiredTags": { ... 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4EDF2E-0B9E-4196-AF29-EBA84AF56AD7}"/>
              </a:ext>
            </a:extLst>
          </p:cNvPr>
          <p:cNvSpPr>
            <a:spLocks noGrp="1"/>
          </p:cNvSpPr>
          <p:nvPr/>
        </p:nvSpPr>
        <p:spPr>
          <a:xfrm>
            <a:off x="4762500" y="4124325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"exceptions": [{ expiry, owner, ticket }]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AD5288-B319-4FF5-A33A-0B348935DF18}"/>
              </a:ext>
            </a:extLst>
          </p:cNvPr>
          <p:cNvSpPr>
            <a:spLocks noGrp="1"/>
          </p:cNvSpPr>
          <p:nvPr/>
        </p:nvSpPr>
        <p:spPr>
          <a:xfrm>
            <a:off x="4762500" y="459105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7E4F2"/>
                </a:solidFill>
                <a:latin typeface="Aptos Mono"/>
                <a:ea typeface="Aptos Mono"/>
                <a:cs typeface="Aptos Mono"/>
              </a:rPr>
              <a:t>"skippedControlIds": []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EEBD45-86A8-4875-8BEC-6335B8436D9C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266700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20E5E8-3042-4602-8CAE-A4195B905E17}"/>
              </a:ext>
            </a:extLst>
          </p:cNvPr>
          <p:cNvSpPr>
            <a:spLocks noGrp="1"/>
          </p:cNvSpPr>
          <p:nvPr/>
        </p:nvSpPr>
        <p:spPr>
          <a:xfrm>
            <a:off x="4895850" y="5057775"/>
            <a:ext cx="2400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2C5FF"/>
                </a:solidFill>
                <a:latin typeface="Aptos Mono"/>
                <a:ea typeface="Aptos Mono"/>
                <a:cs typeface="Aptos Mono"/>
              </a:rPr>
              <a:t>Azure Pre-configuration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890D33-6EA0-4F0C-885D-7FA0CBAF3A6B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32C5FF"/>
            </a:solidFill>
            <a:prstDash val="solid"/>
          </a:ln>
        </p:spPr>
      </p:sp>
      <p:pic>
        <p:nvPicPr>
          <p:cNvPr id="19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6775" y="2085975"/>
            <a:ext cx="228600" cy="2286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650096FF-2615-40B2-BA5C-D8D858614E9A}"/>
              </a:ext>
            </a:extLst>
          </p:cNvPr>
          <p:cNvSpPr>
            <a:spLocks noGrp="1"/>
          </p:cNvSpPr>
          <p:nvPr/>
        </p:nvSpPr>
        <p:spPr>
          <a:xfrm>
            <a:off x="1381125" y="19812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Terraform root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6F9A24-A20C-4499-A59D-46EE0B982959}"/>
              </a:ext>
            </a:extLst>
          </p:cNvPr>
          <p:cNvSpPr>
            <a:spLocks noGrp="1"/>
          </p:cNvSpPr>
          <p:nvPr/>
        </p:nvSpPr>
        <p:spPr>
          <a:xfrm>
            <a:off x="1381125" y="2343150"/>
            <a:ext cx="2381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Choose the root module inside the workspace.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C75DFB-D1E8-4C1B-8639-2C41001861F8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1683FF"/>
            </a:solidFill>
            <a:prstDash val="solid"/>
          </a:ln>
        </p:spPr>
      </p:sp>
      <p:pic>
        <p:nvPicPr>
          <p:cNvPr id="23" name="Graphic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6775" y="3495675"/>
            <a:ext cx="228600" cy="2286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354BDFA-98CD-40BD-908C-47DC9BD3D303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Approved regions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C6AA7-E441-4864-B5DB-A0F11F626E67}"/>
              </a:ext>
            </a:extLst>
          </p:cNvPr>
          <p:cNvSpPr>
            <a:spLocks noGrp="1"/>
          </p:cNvSpPr>
          <p:nvPr/>
        </p:nvSpPr>
        <p:spPr>
          <a:xfrm>
            <a:off x="1381125" y="3752850"/>
            <a:ext cx="2381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Apply shared location policy consistently.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943328B-6214-44AE-8D98-1B2CC605462B}"/>
              </a:ext>
            </a:extLst>
          </p:cNvPr>
          <p:cNvSpPr>
            <a:spLocks noGrp="1"/>
          </p:cNvSpPr>
          <p:nvPr/>
        </p:nvSpPr>
        <p:spPr>
          <a:xfrm>
            <a:off x="8248650" y="198120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2CCB8C"/>
            </a:solidFill>
            <a:prstDash val="solid"/>
          </a:ln>
        </p:spPr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3425" y="2085975"/>
            <a:ext cx="228600" cy="2286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204D27D-0AD0-4F55-ABC2-3B4121607900}"/>
              </a:ext>
            </a:extLst>
          </p:cNvPr>
          <p:cNvSpPr>
            <a:spLocks noGrp="1"/>
          </p:cNvSpPr>
          <p:nvPr/>
        </p:nvSpPr>
        <p:spPr>
          <a:xfrm>
            <a:off x="8867775" y="19812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Required tags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FE3723-BFC6-4A37-BF5C-6F36818AB555}"/>
              </a:ext>
            </a:extLst>
          </p:cNvPr>
          <p:cNvSpPr>
            <a:spLocks noGrp="1"/>
          </p:cNvSpPr>
          <p:nvPr/>
        </p:nvSpPr>
        <p:spPr>
          <a:xfrm>
            <a:off x="8867775" y="234315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Define mandatory keys and exact values.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AB9ADF1-E210-48BF-9AEA-C628529B05CD}"/>
              </a:ext>
            </a:extLst>
          </p:cNvPr>
          <p:cNvSpPr>
            <a:spLocks noGrp="1"/>
          </p:cNvSpPr>
          <p:nvPr/>
        </p:nvSpPr>
        <p:spPr>
          <a:xfrm>
            <a:off x="8248650" y="3390900"/>
            <a:ext cx="438150" cy="4381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FFB547"/>
            </a:solidFill>
            <a:prstDash val="solid"/>
          </a:ln>
        </p:spPr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353425" y="3495675"/>
            <a:ext cx="228600" cy="2286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A20C0F3-4B49-467A-A662-D69022B37087}"/>
              </a:ext>
            </a:extLst>
          </p:cNvPr>
          <p:cNvSpPr>
            <a:spLocks noGrp="1"/>
          </p:cNvSpPr>
          <p:nvPr/>
        </p:nvSpPr>
        <p:spPr>
          <a:xfrm>
            <a:off x="8867775" y="33909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Governed exceptions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27F5D3-FC30-4259-8BD9-3880C3A341B5}"/>
              </a:ext>
            </a:extLst>
          </p:cNvPr>
          <p:cNvSpPr>
            <a:spLocks noGrp="1"/>
          </p:cNvSpPr>
          <p:nvPr/>
        </p:nvSpPr>
        <p:spPr>
          <a:xfrm>
            <a:off x="8867775" y="3752850"/>
            <a:ext cx="247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Require owner, reason, expiry, and ticket.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BCAE6C9-BD3C-42DD-985C-FC673D4883DB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3000375" cy="552450"/>
          </a:xfrm>
          <a:prstGeom prst="roundRect">
            <a:avLst>
              <a:gd name="adj" fmla="val 13793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970100C-EDEE-425B-900D-29ED4989CB67}"/>
              </a:ext>
            </a:extLst>
          </p:cNvPr>
          <p:cNvSpPr>
            <a:spLocks noGrp="1"/>
          </p:cNvSpPr>
          <p:nvPr/>
        </p:nvSpPr>
        <p:spPr>
          <a:xfrm>
            <a:off x="933450" y="5314950"/>
            <a:ext cx="66675" cy="66675"/>
          </a:xfrm>
          <a:prstGeom prst="ellipse">
            <a:avLst/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484352-2535-41AE-AC01-661ABA8AD73D}"/>
              </a:ext>
            </a:extLst>
          </p:cNvPr>
          <p:cNvSpPr>
            <a:spLocks noGrp="1"/>
          </p:cNvSpPr>
          <p:nvPr/>
        </p:nvSpPr>
        <p:spPr>
          <a:xfrm>
            <a:off x="1104900" y="5238750"/>
            <a:ext cx="2571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Commit shared policy; keep secrets out.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4D5E5DE-2B19-4F85-B89D-32F337D1DC08}"/>
              </a:ext>
            </a:extLst>
          </p:cNvPr>
          <p:cNvSpPr>
            <a:spLocks noGrp="1"/>
          </p:cNvSpPr>
          <p:nvPr/>
        </p:nvSpPr>
        <p:spPr>
          <a:xfrm>
            <a:off x="8248650" y="5105400"/>
            <a:ext cx="3095625" cy="552450"/>
          </a:xfrm>
          <a:prstGeom prst="roundRect">
            <a:avLst>
              <a:gd name="adj" fmla="val 13793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3FD7786-9398-44CB-9042-F7303879EE7F}"/>
              </a:ext>
            </a:extLst>
          </p:cNvPr>
          <p:cNvSpPr>
            <a:spLocks noGrp="1"/>
          </p:cNvSpPr>
          <p:nvPr/>
        </p:nvSpPr>
        <p:spPr>
          <a:xfrm>
            <a:off x="8420100" y="5314950"/>
            <a:ext cx="66675" cy="66675"/>
          </a:xfrm>
          <a:prstGeom prst="ellipse">
            <a:avLst/>
          </a:prstGeom>
          <a:solidFill>
            <a:srgbClr val="FFB547"/>
          </a:solidFill>
          <a:ln w="0">
            <a:solidFill>
              <a:srgbClr val="FFB547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BFBD61-D82C-41EA-8ADC-BEE7E33F404A}"/>
              </a:ext>
            </a:extLst>
          </p:cNvPr>
          <p:cNvSpPr>
            <a:spLocks noGrp="1"/>
          </p:cNvSpPr>
          <p:nvPr/>
        </p:nvSpPr>
        <p:spPr>
          <a:xfrm>
            <a:off x="8591550" y="52387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12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Expired exceptions should fail review.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34133D-7361-45ED-8949-C65A81653D70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workspace governance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6868A8-84BE-49A4-98F7-8DE84271894E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87583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kicker-label">
            <a:extLst>
              <a:ext uri="{FF2B5EF4-FFF2-40B4-BE49-F238E27FC236}">
                <a16:creationId xmlns:a16="http://schemas.microsoft.com/office/drawing/2014/main" id="{A751ADC5-1FA1-43B9-B3E5-161731738885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STATIC SCAN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F684E28D-6935-4855-90D7-4CDCF55C636C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A25BD0-C854-4367-9505-7D50CF4E3150}"/>
              </a:ext>
            </a:extLst>
          </p:cNvPr>
          <p:cNvSpPr>
            <a:spLocks noGrp="1"/>
          </p:cNvSpPr>
          <p:nvPr/>
        </p:nvSpPr>
        <p:spPr>
          <a:xfrm>
            <a:off x="1123950" y="542925"/>
            <a:ext cx="9906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Get actionable Terraform feedback without executing Terraform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26A8EC-B64C-4113-AED9-ABC4C57E7308}"/>
              </a:ext>
            </a:extLst>
          </p:cNvPr>
          <p:cNvSpPr>
            <a:spLocks noGrp="1"/>
          </p:cNvSpPr>
          <p:nvPr/>
        </p:nvSpPr>
        <p:spPr>
          <a:xfrm>
            <a:off x="1123950" y="100012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Static scanning stays offline and traces supported values back to source and tfvars provenance.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8B67D0-A123-4064-A1C3-24FFB77FE333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A13084-274C-4A3A-8B99-3D0829C5E52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pic>
        <p:nvPicPr>
          <p:cNvPr id="8" name="Graphic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57250" y="2171700"/>
            <a:ext cx="238125" cy="2381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5DEA93-D621-4D54-9257-3CCFE2D7F4B6}"/>
              </a:ext>
            </a:extLst>
          </p:cNvPr>
          <p:cNvSpPr>
            <a:spLocks noGrp="1"/>
          </p:cNvSpPr>
          <p:nvPr/>
        </p:nvSpPr>
        <p:spPr>
          <a:xfrm>
            <a:off x="1238250" y="2124075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.tf resources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ED3D0A-952F-44A6-BCD6-01BEE0931D99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pic>
        <p:nvPicPr>
          <p:cNvPr id="11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57250" y="2952750"/>
            <a:ext cx="238125" cy="2381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1E67022-053E-4181-BBAC-FE5766899B86}"/>
              </a:ext>
            </a:extLst>
          </p:cNvPr>
          <p:cNvSpPr>
            <a:spLocks noGrp="1"/>
          </p:cNvSpPr>
          <p:nvPr/>
        </p:nvSpPr>
        <p:spPr>
          <a:xfrm>
            <a:off x="1238250" y="2905125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defaults + tfvars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07E424-B6D6-4D47-910C-E8E0DFBEC9B4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57250" y="3733800"/>
            <a:ext cx="238125" cy="2381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7CA6E8-6D82-40B2-9F65-4FABD2F79ADD}"/>
              </a:ext>
            </a:extLst>
          </p:cNvPr>
          <p:cNvSpPr>
            <a:spLocks noGrp="1"/>
          </p:cNvSpPr>
          <p:nvPr/>
        </p:nvSpPr>
        <p:spPr>
          <a:xfrm>
            <a:off x="1238250" y="3686175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locals + conditionals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9979315-0DB9-4F6E-B071-9B0B6E21CA19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pic>
        <p:nvPicPr>
          <p:cNvPr id="17" name="Graphic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57250" y="4514850"/>
            <a:ext cx="238125" cy="238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535985A-9407-4406-9F32-35AE2B308F92}"/>
              </a:ext>
            </a:extLst>
          </p:cNvPr>
          <p:cNvSpPr>
            <a:spLocks noGrp="1"/>
          </p:cNvSpPr>
          <p:nvPr/>
        </p:nvSpPr>
        <p:spPr>
          <a:xfrm>
            <a:off x="1238250" y="4467225"/>
            <a:ext cx="1714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0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local / cached modules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B5AF363-D445-4230-9724-7DCEC894CD92}"/>
              </a:ext>
            </a:extLst>
          </p:cNvPr>
          <p:cNvSpPr>
            <a:spLocks noGrp="1"/>
          </p:cNvSpPr>
          <p:nvPr/>
        </p:nvSpPr>
        <p:spPr>
          <a:xfrm>
            <a:off x="4191000" y="2457450"/>
            <a:ext cx="3238500" cy="2190750"/>
          </a:xfrm>
          <a:prstGeom prst="roundRect">
            <a:avLst>
              <a:gd name="adj" fmla="val 3478"/>
            </a:avLst>
          </a:prstGeom>
          <a:solidFill>
            <a:srgbClr val="081D33"/>
          </a:solidFill>
          <a:ln w="19050">
            <a:solidFill>
              <a:srgbClr val="1683FF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2562444-A5C4-4B4E-9133-F9B42F40BA03}"/>
              </a:ext>
            </a:extLst>
          </p:cNvPr>
          <p:cNvSpPr>
            <a:spLocks noGrp="1"/>
          </p:cNvSpPr>
          <p:nvPr/>
        </p:nvSpPr>
        <p:spPr>
          <a:xfrm>
            <a:off x="4429125" y="2686050"/>
            <a:ext cx="533400" cy="533400"/>
          </a:xfrm>
          <a:prstGeom prst="ellipse">
            <a:avLst/>
          </a:prstGeom>
          <a:solidFill>
            <a:srgbClr val="081D33"/>
          </a:solidFill>
          <a:ln w="9525">
            <a:solidFill>
              <a:srgbClr val="1683FF"/>
            </a:solidFill>
            <a:prstDash val="solid"/>
          </a:ln>
        </p:spPr>
      </p:sp>
      <p:pic>
        <p:nvPicPr>
          <p:cNvPr id="21" name="Graphic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533900" y="2790825"/>
            <a:ext cx="323850" cy="3238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1FAF84D-1DD4-46BD-9ACB-3E05D58F1C8F}"/>
              </a:ext>
            </a:extLst>
          </p:cNvPr>
          <p:cNvSpPr>
            <a:spLocks noGrp="1"/>
          </p:cNvSpPr>
          <p:nvPr/>
        </p:nvSpPr>
        <p:spPr>
          <a:xfrm>
            <a:off x="5114925" y="2733675"/>
            <a:ext cx="2047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Offline evaluation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C976751-D232-4766-9C46-12C58536965D}"/>
              </a:ext>
            </a:extLst>
          </p:cNvPr>
          <p:cNvSpPr>
            <a:spLocks noGrp="1"/>
          </p:cNvSpPr>
          <p:nvPr/>
        </p:nvSpPr>
        <p:spPr>
          <a:xfrm>
            <a:off x="4429125" y="3305175"/>
            <a:ext cx="276225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2C3808-31D7-4096-84AA-B1937CE00CA7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495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683FF"/>
                </a:solidFill>
                <a:latin typeface="Aptos Mono"/>
                <a:ea typeface="Aptos Mono"/>
                <a:cs typeface="Aptos Mono"/>
              </a:rPr>
              <a:t>Scan Terraform Files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C13DA-7B5F-4C46-995F-0E7E38CE8EAB}"/>
              </a:ext>
            </a:extLst>
          </p:cNvPr>
          <p:cNvSpPr>
            <a:spLocks noGrp="1"/>
          </p:cNvSpPr>
          <p:nvPr/>
        </p:nvSpPr>
        <p:spPr>
          <a:xfrm>
            <a:off x="4429125" y="3943350"/>
            <a:ext cx="2762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125" b="1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4F2"/>
                </a:solidFill>
                <a:latin typeface="Aptos"/>
                <a:ea typeface="Aptos"/>
                <a:cs typeface="Aptos"/>
              </a:rPr>
              <a:t>No provider calls. No remote state. No terraform plan.</a:t>
            </a:r>
          </a:p>
        </p:txBody>
      </p:sp>
      <p:cxnSp>
        <p:nvCxnSpPr>
          <p:cNvPr id="26" name="Straight Arrow Connector 25"/>
          <p:cNvCxnSpPr>
            <a:stCxn id="7" idx="3"/>
            <a:endCxn id="19" idx="1"/>
          </p:cNvCxnSpPr>
          <p:nvPr/>
        </p:nvCxnSpPr>
        <p:spPr>
          <a:xfrm>
            <a:off x="3162300" y="2295525"/>
            <a:ext cx="1028700" cy="1257300"/>
          </a:xfrm>
          <a:prstGeom prst="straightConnector1">
            <a:avLst/>
          </a:prstGeom>
          <a:ln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7" name="Straight Arrow Connector 26"/>
          <p:cNvCxnSpPr>
            <a:stCxn id="10" idx="3"/>
            <a:endCxn id="19" idx="1"/>
          </p:cNvCxnSpPr>
          <p:nvPr/>
        </p:nvCxnSpPr>
        <p:spPr>
          <a:xfrm>
            <a:off x="3162300" y="3076575"/>
            <a:ext cx="1028700" cy="476250"/>
          </a:xfrm>
          <a:prstGeom prst="straightConnector1">
            <a:avLst/>
          </a:prstGeom>
          <a:ln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8" name="Straight Arrow Connector 27"/>
          <p:cNvCxnSpPr>
            <a:stCxn id="13" idx="3"/>
            <a:endCxn id="19" idx="1"/>
          </p:cNvCxnSpPr>
          <p:nvPr/>
        </p:nvCxnSpPr>
        <p:spPr>
          <a:xfrm flipV="1">
            <a:off x="3162300" y="3552825"/>
            <a:ext cx="1028700" cy="304800"/>
          </a:xfrm>
          <a:prstGeom prst="straightConnector1">
            <a:avLst/>
          </a:prstGeom>
          <a:ln w="14288">
            <a:solidFill>
              <a:srgbClr val="31506C"/>
            </a:solidFill>
            <a:prstDash val="solid"/>
            <a:tailEnd type="arrow" w="sm" len="sm"/>
          </a:ln>
        </p:spPr>
      </p:cxnSp>
      <p:cxnSp>
        <p:nvCxnSpPr>
          <p:cNvPr id="29" name="Straight Arrow Connector 28"/>
          <p:cNvCxnSpPr>
            <a:stCxn id="16" idx="3"/>
            <a:endCxn id="19" idx="1"/>
          </p:cNvCxnSpPr>
          <p:nvPr/>
        </p:nvCxnSpPr>
        <p:spPr>
          <a:xfrm flipV="1">
            <a:off x="3162300" y="3552825"/>
            <a:ext cx="1028700" cy="1085850"/>
          </a:xfrm>
          <a:prstGeom prst="straightConnector1">
            <a:avLst/>
          </a:prstGeom>
          <a:ln w="14288">
            <a:solidFill>
              <a:srgbClr val="31506C"/>
            </a:solidFill>
            <a:prstDash val="solid"/>
            <a:tailEnd type="arrow" w="sm" len="sm"/>
          </a:ln>
        </p:spPr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ED26958-47E3-4DE6-9C1F-9CB409BD2433}"/>
              </a:ext>
            </a:extLst>
          </p:cNvPr>
          <p:cNvSpPr>
            <a:spLocks noGrp="1"/>
          </p:cNvSpPr>
          <p:nvPr/>
        </p:nvSpPr>
        <p:spPr>
          <a:xfrm>
            <a:off x="8477250" y="2133600"/>
            <a:ext cx="2762250" cy="1143000"/>
          </a:xfrm>
          <a:prstGeom prst="roundRect">
            <a:avLst>
              <a:gd name="adj" fmla="val 6667"/>
            </a:avLst>
          </a:prstGeom>
          <a:solidFill>
            <a:srgbClr val="10263D"/>
          </a:solidFill>
          <a:ln w="9525">
            <a:solidFill>
              <a:srgbClr val="2CCB8C"/>
            </a:solidFill>
            <a:prstDash val="solid"/>
          </a:ln>
        </p:spPr>
      </p:sp>
      <p:pic>
        <p:nvPicPr>
          <p:cNvPr id="31" name="Graphic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705850" y="2371725"/>
            <a:ext cx="266700" cy="2667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61F69E4-897B-4A9F-AE78-58DAB98101B6}"/>
              </a:ext>
            </a:extLst>
          </p:cNvPr>
          <p:cNvSpPr>
            <a:spLocks noGrp="1"/>
          </p:cNvSpPr>
          <p:nvPr/>
        </p:nvSpPr>
        <p:spPr>
          <a:xfrm>
            <a:off x="9124950" y="2305050"/>
            <a:ext cx="1857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Resolved findings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549300-85DB-473A-A2B6-583E31D5818E}"/>
              </a:ext>
            </a:extLst>
          </p:cNvPr>
          <p:cNvSpPr>
            <a:spLocks noGrp="1"/>
          </p:cNvSpPr>
          <p:nvPr/>
        </p:nvSpPr>
        <p:spPr>
          <a:xfrm>
            <a:off x="8705850" y="2724150"/>
            <a:ext cx="22860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Problems, results, provenance, and reviewed quick fixes.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92EA45C-9450-4DD6-AFD7-5E0464888AEE}"/>
              </a:ext>
            </a:extLst>
          </p:cNvPr>
          <p:cNvSpPr>
            <a:spLocks noGrp="1"/>
          </p:cNvSpPr>
          <p:nvPr/>
        </p:nvSpPr>
        <p:spPr>
          <a:xfrm>
            <a:off x="8477250" y="3638550"/>
            <a:ext cx="2762250" cy="1428750"/>
          </a:xfrm>
          <a:prstGeom prst="roundRect">
            <a:avLst>
              <a:gd name="adj" fmla="val 5333"/>
            </a:avLst>
          </a:prstGeom>
          <a:solidFill>
            <a:srgbClr val="10263D"/>
          </a:solidFill>
          <a:ln w="9525">
            <a:solidFill>
              <a:srgbClr val="FFB547"/>
            </a:solidFill>
            <a:prstDash val="solid"/>
          </a:ln>
        </p:spPr>
      </p:sp>
      <p:pic>
        <p:nvPicPr>
          <p:cNvPr id="35" name="Graphic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705850" y="3886200"/>
            <a:ext cx="266700" cy="2667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F54F06A-C68C-453E-989A-5E1F3DFD6DB6}"/>
              </a:ext>
            </a:extLst>
          </p:cNvPr>
          <p:cNvSpPr>
            <a:spLocks noGrp="1"/>
          </p:cNvSpPr>
          <p:nvPr/>
        </p:nvSpPr>
        <p:spPr>
          <a:xfrm>
            <a:off x="9124950" y="3819525"/>
            <a:ext cx="1857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Plan required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374478-DA42-4270-A879-3A070040F566}"/>
              </a:ext>
            </a:extLst>
          </p:cNvPr>
          <p:cNvSpPr>
            <a:spLocks noGrp="1"/>
          </p:cNvSpPr>
          <p:nvPr/>
        </p:nvSpPr>
        <p:spPr>
          <a:xfrm>
            <a:off x="8705850" y="4238625"/>
            <a:ext cx="2286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Provider functions, data sources, remote state, outputs, dynamic blocks, or computed instances.</a:t>
            </a:r>
          </a:p>
        </p:txBody>
      </p:sp>
      <p:cxnSp>
        <p:nvCxnSpPr>
          <p:cNvPr id="38" name="Straight Arrow Connector 37"/>
          <p:cNvCxnSpPr>
            <a:stCxn id="19" idx="3"/>
            <a:endCxn id="30" idx="1"/>
          </p:cNvCxnSpPr>
          <p:nvPr/>
        </p:nvCxnSpPr>
        <p:spPr>
          <a:xfrm flipV="1">
            <a:off x="7429500" y="2705100"/>
            <a:ext cx="1047750" cy="847725"/>
          </a:xfrm>
          <a:prstGeom prst="straightConnector1">
            <a:avLst/>
          </a:prstGeom>
          <a:ln w="19050">
            <a:solidFill>
              <a:srgbClr val="2CCB8C"/>
            </a:solidFill>
            <a:prstDash val="solid"/>
            <a:tailEnd type="arrow" w="med" len="med"/>
          </a:ln>
        </p:spPr>
      </p:cxnSp>
      <p:cxnSp>
        <p:nvCxnSpPr>
          <p:cNvPr id="39" name="Straight Arrow Connector 38"/>
          <p:cNvCxnSpPr>
            <a:stCxn id="19" idx="3"/>
            <a:endCxn id="34" idx="1"/>
          </p:cNvCxnSpPr>
          <p:nvPr/>
        </p:nvCxnSpPr>
        <p:spPr>
          <a:xfrm>
            <a:off x="7429500" y="3552825"/>
            <a:ext cx="1047750" cy="800100"/>
          </a:xfrm>
          <a:prstGeom prst="straightConnector1">
            <a:avLst/>
          </a:prstGeom>
          <a:ln w="19050">
            <a:solidFill>
              <a:srgbClr val="FFB547"/>
            </a:solidFill>
            <a:prstDash val="solid"/>
            <a:tailEnd type="arrow" w="med" len="med"/>
          </a:ln>
        </p:spPr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257870C-98F9-4E8A-B725-F416641BE19F}"/>
              </a:ext>
            </a:extLst>
          </p:cNvPr>
          <p:cNvSpPr>
            <a:spLocks noGrp="1"/>
          </p:cNvSpPr>
          <p:nvPr/>
        </p:nvSpPr>
        <p:spPr>
          <a:xfrm>
            <a:off x="4191000" y="5219700"/>
            <a:ext cx="3238500" cy="285750"/>
          </a:xfrm>
          <a:prstGeom prst="roundRect">
            <a:avLst>
              <a:gd name="adj" fmla="val 26667"/>
            </a:avLst>
          </a:prstGeom>
          <a:solidFill>
            <a:srgbClr val="1683FF"/>
          </a:solidFill>
          <a:ln w="9525">
            <a:solidFill>
              <a:srgbClr val="1683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D37D0D-A7D4-4390-A4A7-52F2AC91B7AE}"/>
              </a:ext>
            </a:extLst>
          </p:cNvPr>
          <p:cNvSpPr>
            <a:spLocks noGrp="1"/>
          </p:cNvSpPr>
          <p:nvPr/>
        </p:nvSpPr>
        <p:spPr>
          <a:xfrm>
            <a:off x="4286250" y="525780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FASTEST AUTHORING FEEDBACK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60F3EDA-06BD-4F09-9FA1-A6078D0B251A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offline static analysis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647976C-0DD9-419A-BAAA-293CFE2D5DEE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897595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kicker-label">
            <a:extLst>
              <a:ext uri="{FF2B5EF4-FFF2-40B4-BE49-F238E27FC236}">
                <a16:creationId xmlns:a16="http://schemas.microsoft.com/office/drawing/2014/main" id="{D10B4FBB-0039-46D6-8961-8FB0540874B0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PLAN FILE SCAN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34222747-1970-40F6-869D-733A58AA75BC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3983CC-43E7-4178-B211-831F35C8CEED}"/>
              </a:ext>
            </a:extLst>
          </p:cNvPr>
          <p:cNvSpPr>
            <a:spLocks noGrp="1"/>
          </p:cNvSpPr>
          <p:nvPr/>
        </p:nvSpPr>
        <p:spPr>
          <a:xfrm>
            <a:off x="1123950" y="542925"/>
            <a:ext cx="9906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Bring a trusted plan file into resolved assurance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92ED3-C6D3-461C-AA60-3FE3CD1D6CF3}"/>
              </a:ext>
            </a:extLst>
          </p:cNvPr>
          <p:cNvSpPr>
            <a:spLocks noGrp="1"/>
          </p:cNvSpPr>
          <p:nvPr/>
        </p:nvSpPr>
        <p:spPr>
          <a:xfrm>
            <a:off x="1123950" y="100012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Use an existing binary .tfplan or terraform show -json output produced by a trusted local or CI workflow.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2556C0-524D-4E08-9F88-DB591AE86450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F4A150-A39F-47ED-894B-C6F838AD211A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10263D"/>
          </a:solidFill>
          <a:ln w="9525">
            <a:solidFill>
              <a:srgbClr val="32C5FF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E8703A-54E6-4A16-8FAF-D4B776ED9340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514350" cy="5143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32C5FF"/>
            </a:solidFill>
            <a:prstDash val="solid"/>
          </a:ln>
        </p:spPr>
      </p:sp>
      <p:pic>
        <p:nvPicPr>
          <p:cNvPr id="9" name="Graphic 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6775" y="2562225"/>
            <a:ext cx="304800" cy="3048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AC1A8B2-1E53-473D-B109-97FF48D875FF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Trusted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15C8D9-9718-40F6-9104-0E9F34789205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866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Local engineering or CI creates the plan with intended credentials and tfvars.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77FEFF-0472-4810-A4F2-E85B3DFD342A}"/>
              </a:ext>
            </a:extLst>
          </p:cNvPr>
          <p:cNvSpPr>
            <a:spLocks noGrp="1"/>
          </p:cNvSpPr>
          <p:nvPr/>
        </p:nvSpPr>
        <p:spPr>
          <a:xfrm>
            <a:off x="3333750" y="22098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10263D"/>
          </a:solidFill>
          <a:ln w="9525">
            <a:solidFill>
              <a:srgbClr val="1683FF"/>
            </a:solidFill>
            <a:prstDash val="solid"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E70CED-A669-40C5-BB08-70525DAFD699}"/>
              </a:ext>
            </a:extLst>
          </p:cNvPr>
          <p:cNvSpPr>
            <a:spLocks noGrp="1"/>
          </p:cNvSpPr>
          <p:nvPr/>
        </p:nvSpPr>
        <p:spPr>
          <a:xfrm>
            <a:off x="3543300" y="2457450"/>
            <a:ext cx="514350" cy="5143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1683FF"/>
            </a:solidFill>
            <a:prstDash val="solid"/>
          </a:ln>
        </p:spPr>
      </p:sp>
      <p:pic>
        <p:nvPicPr>
          <p:cNvPr id="14" name="Graphic 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648075" y="2562225"/>
            <a:ext cx="304800" cy="3048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057F2B9-05D2-487E-AB26-0198FA46429C}"/>
              </a:ext>
            </a:extLst>
          </p:cNvPr>
          <p:cNvSpPr>
            <a:spLocks noGrp="1"/>
          </p:cNvSpPr>
          <p:nvPr/>
        </p:nvSpPr>
        <p:spPr>
          <a:xfrm>
            <a:off x="3543300" y="31432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Plan artifact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1C7FE2-5A9B-4629-BB14-1FFA3AA1E9B6}"/>
              </a:ext>
            </a:extLst>
          </p:cNvPr>
          <p:cNvSpPr>
            <a:spLocks noGrp="1"/>
          </p:cNvSpPr>
          <p:nvPr/>
        </p:nvSpPr>
        <p:spPr>
          <a:xfrm>
            <a:off x="3543300" y="3619500"/>
            <a:ext cx="1866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Select a binary .tfplan or a terraform show -json file.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BC5865-FD5F-492D-9838-6CC55149BEEA}"/>
              </a:ext>
            </a:extLst>
          </p:cNvPr>
          <p:cNvSpPr>
            <a:spLocks noGrp="1"/>
          </p:cNvSpPr>
          <p:nvPr/>
        </p:nvSpPr>
        <p:spPr>
          <a:xfrm>
            <a:off x="6115050" y="2209800"/>
            <a:ext cx="2286000" cy="2571750"/>
          </a:xfrm>
          <a:prstGeom prst="roundRect">
            <a:avLst>
              <a:gd name="adj" fmla="val 3333"/>
            </a:avLst>
          </a:prstGeom>
          <a:solidFill>
            <a:srgbClr val="10263D"/>
          </a:solidFill>
          <a:ln w="9525">
            <a:solidFill>
              <a:srgbClr val="FFB547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BCFAA5-0122-43D2-A5D1-153F035ACDFE}"/>
              </a:ext>
            </a:extLst>
          </p:cNvPr>
          <p:cNvSpPr>
            <a:spLocks noGrp="1"/>
          </p:cNvSpPr>
          <p:nvPr/>
        </p:nvSpPr>
        <p:spPr>
          <a:xfrm>
            <a:off x="6324600" y="2457450"/>
            <a:ext cx="514350" cy="5143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FFB547"/>
            </a:solidFill>
            <a:prstDash val="solid"/>
          </a:ln>
        </p:spPr>
      </p:sp>
      <p:pic>
        <p:nvPicPr>
          <p:cNvPr id="19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29375" y="2562225"/>
            <a:ext cx="304800" cy="304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C904559-12DF-49C6-93B7-DE9D03AF7620}"/>
              </a:ext>
            </a:extLst>
          </p:cNvPr>
          <p:cNvSpPr>
            <a:spLocks noGrp="1"/>
          </p:cNvSpPr>
          <p:nvPr/>
        </p:nvSpPr>
        <p:spPr>
          <a:xfrm>
            <a:off x="6324600" y="31432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Guardrail scan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9B7BAF-1F36-4589-8DBF-8B75256A724A}"/>
              </a:ext>
            </a:extLst>
          </p:cNvPr>
          <p:cNvSpPr>
            <a:spLocks noGrp="1"/>
          </p:cNvSpPr>
          <p:nvPr/>
        </p:nvSpPr>
        <p:spPr>
          <a:xfrm>
            <a:off x="6324600" y="3619500"/>
            <a:ext cx="18669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Evaluate resolved resources, relationships, actions, and plan-only controls.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5332AF4-935B-4A00-BB0E-5BE062BA8943}"/>
              </a:ext>
            </a:extLst>
          </p:cNvPr>
          <p:cNvSpPr>
            <a:spLocks noGrp="1"/>
          </p:cNvSpPr>
          <p:nvPr/>
        </p:nvSpPr>
        <p:spPr>
          <a:xfrm>
            <a:off x="8896350" y="2209800"/>
            <a:ext cx="2743200" cy="2571750"/>
          </a:xfrm>
          <a:prstGeom prst="roundRect">
            <a:avLst>
              <a:gd name="adj" fmla="val 2963"/>
            </a:avLst>
          </a:prstGeom>
          <a:solidFill>
            <a:srgbClr val="10263D"/>
          </a:solidFill>
          <a:ln w="9525">
            <a:solidFill>
              <a:srgbClr val="2CCB8C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82ACD2-1E77-4950-8DE7-9AFF5071B72D}"/>
              </a:ext>
            </a:extLst>
          </p:cNvPr>
          <p:cNvSpPr>
            <a:spLocks noGrp="1"/>
          </p:cNvSpPr>
          <p:nvPr/>
        </p:nvSpPr>
        <p:spPr>
          <a:xfrm>
            <a:off x="9105900" y="2457450"/>
            <a:ext cx="514350" cy="514350"/>
          </a:xfrm>
          <a:prstGeom prst="ellipse">
            <a:avLst/>
          </a:prstGeom>
          <a:solidFill>
            <a:srgbClr val="081D33"/>
          </a:solidFill>
          <a:ln w="9525">
            <a:solidFill>
              <a:srgbClr val="2CCB8C"/>
            </a:solidFill>
            <a:prstDash val="solid"/>
          </a:ln>
        </p:spPr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210675" y="2562225"/>
            <a:ext cx="304800" cy="3048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8D7139F-276B-41EB-9AF2-B118886BA8D5}"/>
              </a:ext>
            </a:extLst>
          </p:cNvPr>
          <p:cNvSpPr>
            <a:spLocks noGrp="1"/>
          </p:cNvSpPr>
          <p:nvPr/>
        </p:nvSpPr>
        <p:spPr>
          <a:xfrm>
            <a:off x="9105900" y="3143250"/>
            <a:ext cx="2324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Review outcome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1428E8-71D7-46D3-9094-4207F0A5E7F5}"/>
              </a:ext>
            </a:extLst>
          </p:cNvPr>
          <p:cNvSpPr>
            <a:spLocks noGrp="1"/>
          </p:cNvSpPr>
          <p:nvPr/>
        </p:nvSpPr>
        <p:spPr>
          <a:xfrm>
            <a:off x="9105900" y="3619500"/>
            <a:ext cx="23241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Inspect exposure, architecture risk, replacements, and connected blast radius.</a:t>
            </a:r>
          </a:p>
        </p:txBody>
      </p:sp>
      <p:cxnSp>
        <p:nvCxnSpPr>
          <p:cNvPr id="27" name="Straight Arrow Connector 26"/>
          <p:cNvCxnSpPr>
            <a:stCxn id="7" idx="3"/>
            <a:endCxn id="12" idx="1"/>
          </p:cNvCxnSpPr>
          <p:nvPr/>
        </p:nvCxnSpPr>
        <p:spPr>
          <a:xfrm>
            <a:off x="2838450" y="3495675"/>
            <a:ext cx="4953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cxnSp>
        <p:nvCxnSpPr>
          <p:cNvPr id="28" name="Straight Arrow Connector 27"/>
          <p:cNvCxnSpPr>
            <a:stCxn id="12" idx="3"/>
            <a:endCxn id="17" idx="1"/>
          </p:cNvCxnSpPr>
          <p:nvPr/>
        </p:nvCxnSpPr>
        <p:spPr>
          <a:xfrm>
            <a:off x="5619750" y="3495675"/>
            <a:ext cx="495300" cy="0"/>
          </a:xfrm>
          <a:prstGeom prst="straightConnector1">
            <a:avLst/>
          </a:prstGeom>
          <a:ln w="19050">
            <a:solidFill>
              <a:srgbClr val="FFB547"/>
            </a:solidFill>
            <a:prstDash val="solid"/>
            <a:tailEnd type="arrow" w="med" len="med"/>
          </a:ln>
        </p:spPr>
      </p:cxnSp>
      <p:cxnSp>
        <p:nvCxnSpPr>
          <p:cNvPr id="29" name="Straight Arrow Connector 28"/>
          <p:cNvCxnSpPr>
            <a:stCxn id="17" idx="3"/>
            <a:endCxn id="22" idx="1"/>
          </p:cNvCxnSpPr>
          <p:nvPr/>
        </p:nvCxnSpPr>
        <p:spPr>
          <a:xfrm>
            <a:off x="8401050" y="3495675"/>
            <a:ext cx="495300" cy="0"/>
          </a:xfrm>
          <a:prstGeom prst="straightConnector1">
            <a:avLst/>
          </a:prstGeom>
          <a:ln w="19050">
            <a:solidFill>
              <a:srgbClr val="32C5FF"/>
            </a:solidFill>
            <a:prstDash val="solid"/>
            <a:tailEnd type="arrow" w="med" len="med"/>
          </a:ln>
        </p:spPr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B788C37-921E-4815-A10E-16E23288F2FE}"/>
              </a:ext>
            </a:extLst>
          </p:cNvPr>
          <p:cNvSpPr>
            <a:spLocks noGrp="1"/>
          </p:cNvSpPr>
          <p:nvPr/>
        </p:nvSpPr>
        <p:spPr>
          <a:xfrm>
            <a:off x="3333750" y="5067300"/>
            <a:ext cx="506730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907216-B7E0-4D0F-B542-E0DA1B0E008B}"/>
              </a:ext>
            </a:extLst>
          </p:cNvPr>
          <p:cNvSpPr>
            <a:spLocks noGrp="1"/>
          </p:cNvSpPr>
          <p:nvPr/>
        </p:nvSpPr>
        <p:spPr>
          <a:xfrm>
            <a:off x="3467100" y="5133975"/>
            <a:ext cx="4800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rPr>
              <a:t>Scan Existing Terraform Plan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33DA115-1774-430C-9C7A-44F71FC40904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2286000" cy="285750"/>
          </a:xfrm>
          <a:prstGeom prst="roundRect">
            <a:avLst>
              <a:gd name="adj" fmla="val 26667"/>
            </a:avLst>
          </a:prstGeom>
          <a:solidFill>
            <a:srgbClr val="2CCB8C"/>
          </a:solidFill>
          <a:ln w="9525">
            <a:solidFill>
              <a:srgbClr val="2CCB8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EBC458-7154-4874-B1AF-1C23F156DACB}"/>
              </a:ext>
            </a:extLst>
          </p:cNvPr>
          <p:cNvSpPr>
            <a:spLocks noGrp="1"/>
          </p:cNvSpPr>
          <p:nvPr/>
        </p:nvSpPr>
        <p:spPr>
          <a:xfrm>
            <a:off x="647700" y="51816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NEVER RUNS TERRAFORM APPLY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67A315B-9C98-4751-A111-9711C4F0EDEE}"/>
              </a:ext>
            </a:extLst>
          </p:cNvPr>
          <p:cNvSpPr>
            <a:spLocks noGrp="1"/>
          </p:cNvSpPr>
          <p:nvPr/>
        </p:nvSpPr>
        <p:spPr>
          <a:xfrm>
            <a:off x="8896350" y="5143500"/>
            <a:ext cx="2743200" cy="285750"/>
          </a:xfrm>
          <a:prstGeom prst="roundRect">
            <a:avLst>
              <a:gd name="adj" fmla="val 26667"/>
            </a:avLst>
          </a:prstGeom>
          <a:solidFill>
            <a:srgbClr val="FF6B6B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FD66CE-EA33-4A1A-B763-03E681C4C8FC}"/>
              </a:ext>
            </a:extLst>
          </p:cNvPr>
          <p:cNvSpPr>
            <a:spLocks noGrp="1"/>
          </p:cNvSpPr>
          <p:nvPr/>
        </p:nvSpPr>
        <p:spPr>
          <a:xfrm>
            <a:off x="8991600" y="518160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PLAN FILES MAY CONTAIN SENSITIVE 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6A2899-E093-49C8-AC6C-04DA74162006}"/>
              </a:ext>
            </a:extLst>
          </p:cNvPr>
          <p:cNvSpPr>
            <a:spLocks noGrp="1"/>
          </p:cNvSpPr>
          <p:nvPr/>
        </p:nvSpPr>
        <p:spPr>
          <a:xfrm>
            <a:off x="1219200" y="5772150"/>
            <a:ext cx="9753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050" b="0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FA9C2"/>
                </a:solidFill>
                <a:latin typeface="Aptos"/>
                <a:ea typeface="Aptos"/>
                <a:cs typeface="Aptos"/>
              </a:rPr>
              <a:t>For binary plans, Guardrail uses your local Terraform executable to convert the plan to JSON before evaluation.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C14E5F-BDAA-48A0-9A8F-3207B29FF9FE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scan an existing Terraform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F89A23-94DF-4FFE-9543-D4E512A58CC9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53077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kicker-label">
            <a:extLst>
              <a:ext uri="{FF2B5EF4-FFF2-40B4-BE49-F238E27FC236}">
                <a16:creationId xmlns:a16="http://schemas.microsoft.com/office/drawing/2014/main" id="{A69ECA70-4364-44AB-8E42-54FAE968D32E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CLOUD CANVAS PREVIEW</a:t>
            </a:r>
          </a:p>
        </p:txBody>
      </p:sp>
      <p:sp>
        <p:nvSpPr>
          <p:cNvPr id="3" name="kicker-marker">
            <a:extLst>
              <a:ext uri="{FF2B5EF4-FFF2-40B4-BE49-F238E27FC236}">
                <a16:creationId xmlns:a16="http://schemas.microsoft.com/office/drawing/2014/main" id="{8C98DFC5-1960-4557-BDE8-4BF966DA3EDE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B4CD5-C6E5-440C-A8BA-09CEFD3B323D}"/>
              </a:ext>
            </a:extLst>
          </p:cNvPr>
          <p:cNvSpPr>
            <a:spLocks noGrp="1"/>
          </p:cNvSpPr>
          <p:nvPr/>
        </p:nvSpPr>
        <p:spPr>
          <a:xfrm>
            <a:off x="1123950" y="542925"/>
            <a:ext cx="9906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25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Design governed architecture before generating Terraform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4CD933-F217-405C-A725-B7967C79DB23}"/>
              </a:ext>
            </a:extLst>
          </p:cNvPr>
          <p:cNvSpPr>
            <a:spLocks noGrp="1"/>
          </p:cNvSpPr>
          <p:nvPr/>
        </p:nvSpPr>
        <p:spPr>
          <a:xfrm>
            <a:off x="1123950" y="1000125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2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Cloud Canvas connects design intent to Terraform preview while keeping unsupported services diagram-only.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0A42E7-DC79-467A-A3D0-73192ED0E8F3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1401D1-9B46-4220-A7B6-0AA0BEC4BA0E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7524750" cy="4457700"/>
          </a:xfrm>
          <a:prstGeom prst="roundRect">
            <a:avLst>
              <a:gd name="adj" fmla="val 1709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69E73D-8A73-49D3-8297-FF4C8840FD3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ARCHITECTURE WORKSPACE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68AEDC-FB73-4220-9030-7E7E3CBD8C5B}"/>
              </a:ext>
            </a:extLst>
          </p:cNvPr>
          <p:cNvSpPr>
            <a:spLocks noGrp="1"/>
          </p:cNvSpPr>
          <p:nvPr/>
        </p:nvSpPr>
        <p:spPr>
          <a:xfrm>
            <a:off x="5886450" y="1847850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1683FF"/>
          </a:solidFill>
          <a:ln w="9525">
            <a:solidFill>
              <a:srgbClr val="1683F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86D106-C1E9-4647-9BB4-0B344D0BA02E}"/>
              </a:ext>
            </a:extLst>
          </p:cNvPr>
          <p:cNvSpPr>
            <a:spLocks noGrp="1"/>
          </p:cNvSpPr>
          <p:nvPr/>
        </p:nvSpPr>
        <p:spPr>
          <a:xfrm>
            <a:off x="5981700" y="18859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UNDO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9E73B8-49EC-4998-A0A6-EE629D9A8B59}"/>
              </a:ext>
            </a:extLst>
          </p:cNvPr>
          <p:cNvSpPr>
            <a:spLocks noGrp="1"/>
          </p:cNvSpPr>
          <p:nvPr/>
        </p:nvSpPr>
        <p:spPr>
          <a:xfrm>
            <a:off x="6858000" y="1847850"/>
            <a:ext cx="876300" cy="285750"/>
          </a:xfrm>
          <a:prstGeom prst="roundRect">
            <a:avLst>
              <a:gd name="adj" fmla="val 26667"/>
            </a:avLst>
          </a:prstGeom>
          <a:solidFill>
            <a:srgbClr val="2CCB8C"/>
          </a:solidFill>
          <a:ln w="9525">
            <a:solidFill>
              <a:srgbClr val="2CCB8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2D547D-0C4B-4FED-805A-225461706CAF}"/>
              </a:ext>
            </a:extLst>
          </p:cNvPr>
          <p:cNvSpPr>
            <a:spLocks noGrp="1"/>
          </p:cNvSpPr>
          <p:nvPr/>
        </p:nvSpPr>
        <p:spPr>
          <a:xfrm>
            <a:off x="6953250" y="18859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50154F-A0F5-4226-B0AE-87A19BEFC087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1714500" cy="895350"/>
          </a:xfrm>
          <a:prstGeom prst="roundRect">
            <a:avLst>
              <a:gd name="adj" fmla="val 8511"/>
            </a:avLst>
          </a:prstGeom>
          <a:solidFill>
            <a:srgbClr val="10263D"/>
          </a:solidFill>
          <a:ln w="14288">
            <a:solidFill>
              <a:srgbClr val="2CCB8C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698C998-BDA3-454D-AEAB-F5831A578299}"/>
              </a:ext>
            </a:extLst>
          </p:cNvPr>
          <p:cNvSpPr>
            <a:spLocks noGrp="1"/>
          </p:cNvSpPr>
          <p:nvPr/>
        </p:nvSpPr>
        <p:spPr>
          <a:xfrm>
            <a:off x="1104900" y="2914650"/>
            <a:ext cx="114300" cy="114300"/>
          </a:xfrm>
          <a:prstGeom prst="ellipse">
            <a:avLst/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2907B-640D-4692-A06D-C96A8F2D7C39}"/>
              </a:ext>
            </a:extLst>
          </p:cNvPr>
          <p:cNvSpPr>
            <a:spLocks noGrp="1"/>
          </p:cNvSpPr>
          <p:nvPr/>
        </p:nvSpPr>
        <p:spPr>
          <a:xfrm>
            <a:off x="1333500" y="2857500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Web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E217CF-39F6-43CD-949D-A608A6DC473C}"/>
              </a:ext>
            </a:extLst>
          </p:cNvPr>
          <p:cNvSpPr>
            <a:spLocks noGrp="1"/>
          </p:cNvSpPr>
          <p:nvPr/>
        </p:nvSpPr>
        <p:spPr>
          <a:xfrm>
            <a:off x="1333500" y="32194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DACB8A-1F00-4323-A8CE-8C86FDD52CA6}"/>
              </a:ext>
            </a:extLst>
          </p:cNvPr>
          <p:cNvSpPr>
            <a:spLocks noGrp="1"/>
          </p:cNvSpPr>
          <p:nvPr/>
        </p:nvSpPr>
        <p:spPr>
          <a:xfrm>
            <a:off x="3333750" y="2381250"/>
            <a:ext cx="1714500" cy="895350"/>
          </a:xfrm>
          <a:prstGeom prst="roundRect">
            <a:avLst>
              <a:gd name="adj" fmla="val 8511"/>
            </a:avLst>
          </a:prstGeom>
          <a:solidFill>
            <a:srgbClr val="10263D"/>
          </a:solidFill>
          <a:ln w="14288">
            <a:solidFill>
              <a:srgbClr val="2CCB8C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E30526C-0492-4D40-AA55-03449E1E3C98}"/>
              </a:ext>
            </a:extLst>
          </p:cNvPr>
          <p:cNvSpPr>
            <a:spLocks noGrp="1"/>
          </p:cNvSpPr>
          <p:nvPr/>
        </p:nvSpPr>
        <p:spPr>
          <a:xfrm>
            <a:off x="3486150" y="2571750"/>
            <a:ext cx="114300" cy="114300"/>
          </a:xfrm>
          <a:prstGeom prst="ellipse">
            <a:avLst/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D76B69-6ADA-4719-88D6-966F373F9885}"/>
              </a:ext>
            </a:extLst>
          </p:cNvPr>
          <p:cNvSpPr>
            <a:spLocks noGrp="1"/>
          </p:cNvSpPr>
          <p:nvPr/>
        </p:nvSpPr>
        <p:spPr>
          <a:xfrm>
            <a:off x="3714750" y="2514600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Service Bus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323618-A9D4-4985-9350-9549B649592D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4F84C38-713E-4FF3-9BA1-FD6052AB97BF}"/>
              </a:ext>
            </a:extLst>
          </p:cNvPr>
          <p:cNvSpPr>
            <a:spLocks noGrp="1"/>
          </p:cNvSpPr>
          <p:nvPr/>
        </p:nvSpPr>
        <p:spPr>
          <a:xfrm>
            <a:off x="3333750" y="3981450"/>
            <a:ext cx="1714500" cy="895350"/>
          </a:xfrm>
          <a:prstGeom prst="roundRect">
            <a:avLst>
              <a:gd name="adj" fmla="val 8511"/>
            </a:avLst>
          </a:prstGeom>
          <a:solidFill>
            <a:srgbClr val="10263D"/>
          </a:solidFill>
          <a:ln w="14288">
            <a:solidFill>
              <a:srgbClr val="2CCB8C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FAB5F93-398B-4834-9F72-22571AEF5CDB}"/>
              </a:ext>
            </a:extLst>
          </p:cNvPr>
          <p:cNvSpPr>
            <a:spLocks noGrp="1"/>
          </p:cNvSpPr>
          <p:nvPr/>
        </p:nvSpPr>
        <p:spPr>
          <a:xfrm>
            <a:off x="3486150" y="4171950"/>
            <a:ext cx="114300" cy="114300"/>
          </a:xfrm>
          <a:prstGeom prst="ellipse">
            <a:avLst/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1BDAA0-F497-4740-B7C8-C336C83562DE}"/>
              </a:ext>
            </a:extLst>
          </p:cNvPr>
          <p:cNvSpPr>
            <a:spLocks noGrp="1"/>
          </p:cNvSpPr>
          <p:nvPr/>
        </p:nvSpPr>
        <p:spPr>
          <a:xfrm>
            <a:off x="3714750" y="4114800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Storage Account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2F92F3-730B-4395-977E-C88895DE1C96}"/>
              </a:ext>
            </a:extLst>
          </p:cNvPr>
          <p:cNvSpPr>
            <a:spLocks noGrp="1"/>
          </p:cNvSpPr>
          <p:nvPr/>
        </p:nvSpPr>
        <p:spPr>
          <a:xfrm>
            <a:off x="3714750" y="44767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CC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CCB8C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8F49F6-868C-4852-A3F0-B9A4A90DE15C}"/>
              </a:ext>
            </a:extLst>
          </p:cNvPr>
          <p:cNvSpPr>
            <a:spLocks noGrp="1"/>
          </p:cNvSpPr>
          <p:nvPr/>
        </p:nvSpPr>
        <p:spPr>
          <a:xfrm>
            <a:off x="5715000" y="3181350"/>
            <a:ext cx="1714500" cy="895350"/>
          </a:xfrm>
          <a:prstGeom prst="roundRect">
            <a:avLst>
              <a:gd name="adj" fmla="val 8511"/>
            </a:avLst>
          </a:prstGeom>
          <a:solidFill>
            <a:srgbClr val="10263D"/>
          </a:solidFill>
          <a:ln w="14288">
            <a:solidFill>
              <a:srgbClr val="FFB547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F05101-85FA-4476-87C4-9580B75CEF6C}"/>
              </a:ext>
            </a:extLst>
          </p:cNvPr>
          <p:cNvSpPr>
            <a:spLocks noGrp="1"/>
          </p:cNvSpPr>
          <p:nvPr/>
        </p:nvSpPr>
        <p:spPr>
          <a:xfrm>
            <a:off x="5867400" y="3371850"/>
            <a:ext cx="114300" cy="114300"/>
          </a:xfrm>
          <a:prstGeom prst="ellipse">
            <a:avLst/>
          </a:prstGeom>
          <a:solidFill>
            <a:srgbClr val="FFB547"/>
          </a:solidFill>
          <a:ln w="0">
            <a:solidFill>
              <a:srgbClr val="FFB547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233404-2401-4671-B281-CDFDD2FDE571}"/>
              </a:ext>
            </a:extLst>
          </p:cNvPr>
          <p:cNvSpPr>
            <a:spLocks noGrp="1"/>
          </p:cNvSpPr>
          <p:nvPr/>
        </p:nvSpPr>
        <p:spPr>
          <a:xfrm>
            <a:off x="6096000" y="3314700"/>
            <a:ext cx="1200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Other service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C22E7A-37FD-42E8-8F5B-5C4C2C4D00F4}"/>
              </a:ext>
            </a:extLst>
          </p:cNvPr>
          <p:cNvSpPr>
            <a:spLocks noGrp="1"/>
          </p:cNvSpPr>
          <p:nvPr/>
        </p:nvSpPr>
        <p:spPr>
          <a:xfrm>
            <a:off x="6096000" y="3676650"/>
            <a:ext cx="1200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diagram-only</a:t>
            </a:r>
          </a:p>
        </p:txBody>
      </p:sp>
      <p:cxnSp>
        <p:nvCxnSpPr>
          <p:cNvPr id="29" name="Connector: Elbow 28"/>
          <p:cNvCxnSpPr>
            <a:stCxn id="13" idx="3"/>
            <a:endCxn id="17" idx="1"/>
          </p:cNvCxnSpPr>
          <p:nvPr/>
        </p:nvCxnSpPr>
        <p:spPr>
          <a:xfrm flipV="1">
            <a:off x="2667000" y="2828925"/>
            <a:ext cx="666750" cy="342900"/>
          </a:xfrm>
          <a:prstGeom prst="bentConnector3">
            <a:avLst>
              <a:gd name="adj1" fmla="val 50000"/>
            </a:avLst>
          </a:prstGeom>
          <a:ln w="14288">
            <a:solidFill>
              <a:srgbClr val="32C5FF"/>
            </a:solidFill>
            <a:prstDash val="solid"/>
            <a:tailEnd type="arrow" w="sm" len="sm"/>
          </a:ln>
        </p:spPr>
      </p:cxnSp>
      <p:cxnSp>
        <p:nvCxnSpPr>
          <p:cNvPr id="30" name="Connector: Elbow 29"/>
          <p:cNvCxnSpPr>
            <a:stCxn id="13" idx="3"/>
            <a:endCxn id="21" idx="1"/>
          </p:cNvCxnSpPr>
          <p:nvPr/>
        </p:nvCxnSpPr>
        <p:spPr>
          <a:xfrm>
            <a:off x="2667000" y="3171825"/>
            <a:ext cx="666750" cy="1257300"/>
          </a:xfrm>
          <a:prstGeom prst="bentConnector3">
            <a:avLst>
              <a:gd name="adj1" fmla="val 50000"/>
            </a:avLst>
          </a:prstGeom>
          <a:ln w="14288">
            <a:solidFill>
              <a:srgbClr val="32C5FF"/>
            </a:solidFill>
            <a:prstDash val="solid"/>
            <a:tailEnd type="arrow" w="sm" len="sm"/>
          </a:ln>
        </p:spPr>
      </p:cxnSp>
      <p:cxnSp>
        <p:nvCxnSpPr>
          <p:cNvPr id="31" name="Connector: Elbow 30"/>
          <p:cNvCxnSpPr>
            <a:stCxn id="17" idx="3"/>
            <a:endCxn id="25" idx="1"/>
          </p:cNvCxnSpPr>
          <p:nvPr/>
        </p:nvCxnSpPr>
        <p:spPr>
          <a:xfrm>
            <a:off x="5048250" y="2828925"/>
            <a:ext cx="666750" cy="800100"/>
          </a:xfrm>
          <a:prstGeom prst="bentConnector3">
            <a:avLst>
              <a:gd name="adj1" fmla="val 50000"/>
            </a:avLst>
          </a:prstGeom>
          <a:ln w="14288">
            <a:solidFill>
              <a:srgbClr val="32C5FF"/>
            </a:solidFill>
            <a:prstDash val="solid"/>
            <a:tailEnd type="arrow" w="sm" len="sm"/>
          </a:ln>
        </p:spPr>
      </p:cxnSp>
      <p:cxnSp>
        <p:nvCxnSpPr>
          <p:cNvPr id="32" name="Connector: Elbow 31"/>
          <p:cNvCxnSpPr>
            <a:stCxn id="21" idx="3"/>
            <a:endCxn id="25" idx="1"/>
          </p:cNvCxnSpPr>
          <p:nvPr/>
        </p:nvCxnSpPr>
        <p:spPr>
          <a:xfrm flipV="1">
            <a:off x="5048250" y="3629025"/>
            <a:ext cx="666750" cy="800100"/>
          </a:xfrm>
          <a:prstGeom prst="bentConnector3">
            <a:avLst>
              <a:gd name="adj1" fmla="val 50000"/>
            </a:avLst>
          </a:prstGeom>
          <a:ln w="14288">
            <a:solidFill>
              <a:srgbClr val="32C5FF"/>
            </a:solidFill>
            <a:prstDash val="solid"/>
            <a:tailEnd type="arrow" w="sm" len="sm"/>
          </a:ln>
        </p:spPr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7F48031-FFBA-483E-990F-DE93E9676B2A}"/>
              </a:ext>
            </a:extLst>
          </p:cNvPr>
          <p:cNvSpPr>
            <a:spLocks noGrp="1"/>
          </p:cNvSpPr>
          <p:nvPr/>
        </p:nvSpPr>
        <p:spPr>
          <a:xfrm>
            <a:off x="8286750" y="1695450"/>
            <a:ext cx="3448050" cy="4457700"/>
          </a:xfrm>
          <a:prstGeom prst="roundRect">
            <a:avLst>
              <a:gd name="adj" fmla="val 2210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C1502C-4180-476A-BC9C-50C9D92E03D7}"/>
              </a:ext>
            </a:extLst>
          </p:cNvPr>
          <p:cNvSpPr>
            <a:spLocks noGrp="1"/>
          </p:cNvSpPr>
          <p:nvPr/>
        </p:nvSpPr>
        <p:spPr>
          <a:xfrm>
            <a:off x="8515350" y="1924050"/>
            <a:ext cx="2990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Design with review built in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D90D24-4BFF-4E9B-B1AD-FF7268C82D2A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76200" cy="76200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2E3767-1301-4D55-9D9F-6136824CAE51}"/>
              </a:ext>
            </a:extLst>
          </p:cNvPr>
          <p:cNvSpPr>
            <a:spLocks noGrp="1"/>
          </p:cNvSpPr>
          <p:nvPr/>
        </p:nvSpPr>
        <p:spPr>
          <a:xfrm>
            <a:off x="8763000" y="240030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Searchable catalog + starting patterns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8C495E5-FD87-4B44-BB87-638C408CA3D5}"/>
              </a:ext>
            </a:extLst>
          </p:cNvPr>
          <p:cNvSpPr>
            <a:spLocks noGrp="1"/>
          </p:cNvSpPr>
          <p:nvPr/>
        </p:nvSpPr>
        <p:spPr>
          <a:xfrm>
            <a:off x="8534400" y="2952750"/>
            <a:ext cx="76200" cy="76200"/>
          </a:xfrm>
          <a:prstGeom prst="ellipse">
            <a:avLst/>
          </a:prstGeom>
          <a:solidFill>
            <a:srgbClr val="1683FF"/>
          </a:solidFill>
          <a:ln w="0">
            <a:solidFill>
              <a:srgbClr val="1683FF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7D7C6C-91CA-4759-B757-4830EA61E6E8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Directional dependency connections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CFDC9B-54FB-4DBA-BEF2-5B3ECE175801}"/>
              </a:ext>
            </a:extLst>
          </p:cNvPr>
          <p:cNvSpPr>
            <a:spLocks noGrp="1"/>
          </p:cNvSpPr>
          <p:nvPr/>
        </p:nvSpPr>
        <p:spPr>
          <a:xfrm>
            <a:off x="8534400" y="3390900"/>
            <a:ext cx="76200" cy="76200"/>
          </a:xfrm>
          <a:prstGeom prst="ellipse">
            <a:avLst/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B031F0F-494F-4ECD-AFF5-84C188C784BC}"/>
              </a:ext>
            </a:extLst>
          </p:cNvPr>
          <p:cNvSpPr>
            <a:spLocks noGrp="1"/>
          </p:cNvSpPr>
          <p:nvPr/>
        </p:nvSpPr>
        <p:spPr>
          <a:xfrm>
            <a:off x="8763000" y="327660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Service-specific Terraform parameters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2660783-01DE-4D08-8508-5D269573E352}"/>
              </a:ext>
            </a:extLst>
          </p:cNvPr>
          <p:cNvSpPr>
            <a:spLocks noGrp="1"/>
          </p:cNvSpPr>
          <p:nvPr/>
        </p:nvSpPr>
        <p:spPr>
          <a:xfrm>
            <a:off x="8534400" y="3829050"/>
            <a:ext cx="76200" cy="76200"/>
          </a:xfrm>
          <a:prstGeom prst="ellipse">
            <a:avLst/>
          </a:prstGeom>
          <a:solidFill>
            <a:srgbClr val="FFB547"/>
          </a:solidFill>
          <a:ln w="0">
            <a:solidFill>
              <a:srgbClr val="FFB547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60CA25A-3C3E-4D16-93F7-FDFCA780BA47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Governance status before generation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8DFABA9-1544-4FEA-B162-54D4BB939B99}"/>
              </a:ext>
            </a:extLst>
          </p:cNvPr>
          <p:cNvSpPr>
            <a:spLocks noGrp="1"/>
          </p:cNvSpPr>
          <p:nvPr/>
        </p:nvSpPr>
        <p:spPr>
          <a:xfrm>
            <a:off x="8534400" y="4267200"/>
            <a:ext cx="76200" cy="76200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E46F96-CBB3-4DE0-ADDD-2E33B82A8E68}"/>
              </a:ext>
            </a:extLst>
          </p:cNvPr>
          <p:cNvSpPr>
            <a:spLocks noGrp="1"/>
          </p:cNvSpPr>
          <p:nvPr/>
        </p:nvSpPr>
        <p:spPr>
          <a:xfrm>
            <a:off x="8763000" y="415290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Terraform preview, validation, and scan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1A3EAA2-1BE0-4EC1-888A-A2473E7AE825}"/>
              </a:ext>
            </a:extLst>
          </p:cNvPr>
          <p:cNvSpPr>
            <a:spLocks noGrp="1"/>
          </p:cNvSpPr>
          <p:nvPr/>
        </p:nvSpPr>
        <p:spPr>
          <a:xfrm>
            <a:off x="8534400" y="4705350"/>
            <a:ext cx="76200" cy="76200"/>
          </a:xfrm>
          <a:prstGeom prst="ellipse">
            <a:avLst/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3CE292C-E093-40C3-987B-0A8770D4C353}"/>
              </a:ext>
            </a:extLst>
          </p:cNvPr>
          <p:cNvSpPr>
            <a:spLocks noGrp="1"/>
          </p:cNvSpPr>
          <p:nvPr/>
        </p:nvSpPr>
        <p:spPr>
          <a:xfrm>
            <a:off x="8763000" y="4591050"/>
            <a:ext cx="2647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50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PNG export and explicit generation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5357C9B-4D51-4AC2-B860-B1A3E94139AF}"/>
              </a:ext>
            </a:extLst>
          </p:cNvPr>
          <p:cNvSpPr>
            <a:spLocks noGrp="1"/>
          </p:cNvSpPr>
          <p:nvPr/>
        </p:nvSpPr>
        <p:spPr>
          <a:xfrm>
            <a:off x="8515350" y="5219700"/>
            <a:ext cx="2990850" cy="438150"/>
          </a:xfrm>
          <a:prstGeom prst="roundRect">
            <a:avLst>
              <a:gd name="adj" fmla="val 17391"/>
            </a:avLst>
          </a:prstGeom>
          <a:solidFill>
            <a:srgbClr val="081D33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7BB8067-45AF-4522-9AEA-FB605FF83395}"/>
              </a:ext>
            </a:extLst>
          </p:cNvPr>
          <p:cNvSpPr>
            <a:spLocks noGrp="1"/>
          </p:cNvSpPr>
          <p:nvPr/>
        </p:nvSpPr>
        <p:spPr>
          <a:xfrm>
            <a:off x="8648700" y="5286375"/>
            <a:ext cx="2724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FB547"/>
                </a:solidFill>
                <a:latin typeface="Aptos Mono"/>
                <a:ea typeface="Aptos Mono"/>
                <a:cs typeface="Aptos Mono"/>
              </a:rPr>
              <a:t>Cloud Canvas (Preview)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095C25-3714-4071-8C04-88CECD7DE4A8}"/>
              </a:ext>
            </a:extLst>
          </p:cNvPr>
          <p:cNvSpPr>
            <a:spLocks noGrp="1"/>
          </p:cNvSpPr>
          <p:nvPr/>
        </p:nvSpPr>
        <p:spPr>
          <a:xfrm>
            <a:off x="8515350" y="5791200"/>
            <a:ext cx="29908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Generated Terraform is scaffolding, not deployment approval.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9E13DB-AC98-4AE4-B946-05355A5B6A42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71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Usage scenario: preview Cloud Canvas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72422AF-7DFA-4738-A17F-734724A700A1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1187174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304800"/>
            <a:ext cx="514350" cy="5143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3E2710F-DBA7-4EAE-B0BB-54952BF68E6C}"/>
              </a:ext>
            </a:extLst>
          </p:cNvPr>
          <p:cNvSpPr>
            <a:spLocks noGrp="1"/>
          </p:cNvSpPr>
          <p:nvPr/>
        </p:nvSpPr>
        <p:spPr>
          <a:xfrm>
            <a:off x="1009650" y="395288"/>
            <a:ext cx="47625" cy="47625"/>
          </a:xfrm>
          <a:prstGeom prst="ellipse">
            <a:avLst/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8B5A27A-DAE5-483F-B31C-C70EFFBA1656}"/>
              </a:ext>
            </a:extLst>
          </p:cNvPr>
          <p:cNvSpPr>
            <a:spLocks noGrp="1"/>
          </p:cNvSpPr>
          <p:nvPr/>
        </p:nvSpPr>
        <p:spPr>
          <a:xfrm>
            <a:off x="1123950" y="323850"/>
            <a:ext cx="685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32C5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2C5FF"/>
                </a:solidFill>
                <a:latin typeface="Aptos"/>
                <a:ea typeface="Aptos"/>
                <a:cs typeface="Aptos"/>
              </a:rPr>
              <a:t>AZURE IaC GUARDRAIL  |  LINKEDIN PROMO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6BF6CE-D1B9-47B9-BF66-17E25F5E4C34}"/>
              </a:ext>
            </a:extLst>
          </p:cNvPr>
          <p:cNvSpPr>
            <a:spLocks noGrp="1"/>
          </p:cNvSpPr>
          <p:nvPr/>
        </p:nvSpPr>
        <p:spPr>
          <a:xfrm>
            <a:off x="1123950" y="771525"/>
            <a:ext cx="933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47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2475" b="1" dirty="0">
                <a:solidFill>
                  <a:srgbClr val="F7FBFF"/>
                </a:solidFill>
                <a:latin typeface="Aptos"/>
                <a:ea typeface="Aptos"/>
                <a:cs typeface="Aptos"/>
              </a:rPr>
              <a:t>See Guardrail in action before Terraform ever reaches deployment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96A12F-2881-466A-B587-447D2AEB8D8C}"/>
              </a:ext>
            </a:extLst>
          </p:cNvPr>
          <p:cNvSpPr>
            <a:spLocks noGrp="1"/>
          </p:cNvSpPr>
          <p:nvPr/>
        </p:nvSpPr>
        <p:spPr>
          <a:xfrm>
            <a:off x="11239500" y="400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A65A75-DE74-4789-B802-5DF3EADF6D81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667000" cy="4762500"/>
          </a:xfrm>
          <a:prstGeom prst="roundRect">
            <a:avLst>
              <a:gd name="adj" fmla="val 2857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E0C050-AF55-4D73-AE07-51847695D8D5}"/>
              </a:ext>
            </a:extLst>
          </p:cNvPr>
          <p:cNvSpPr>
            <a:spLocks noGrp="1"/>
          </p:cNvSpPr>
          <p:nvPr/>
        </p:nvSpPr>
        <p:spPr>
          <a:xfrm>
            <a:off x="457200" y="1504950"/>
            <a:ext cx="2667000" cy="57150"/>
          </a:xfrm>
          <a:prstGeom prst="roundRect">
            <a:avLst>
              <a:gd name="adj" fmla="val 50000"/>
            </a:avLst>
          </a:prstGeom>
          <a:solidFill>
            <a:srgbClr val="32C5FF"/>
          </a:solidFill>
          <a:ln w="0">
            <a:solidFill>
              <a:srgbClr val="32C5FF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E42798-AA1D-4C0B-8797-374C97644FDC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2324100" cy="1809750"/>
          </a:xfrm>
          <a:prstGeom prst="roundRect">
            <a:avLst>
              <a:gd name="adj" fmla="val 4211"/>
            </a:avLst>
          </a:prstGeom>
          <a:solidFill>
            <a:srgbClr val="081D33"/>
          </a:solidFill>
          <a:ln w="9525">
            <a:solidFill>
              <a:srgbClr val="274560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rcRect t="20675" b="20675"/>
          <a:stretch>
            <a:fillRect/>
          </a:stretch>
        </p:blipFill>
        <p:spPr>
          <a:xfrm>
            <a:off x="628650" y="1676400"/>
            <a:ext cx="2324100" cy="180975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2AA820-E981-4FA0-9C95-033377682F65}"/>
              </a:ext>
            </a:extLst>
          </p:cNvPr>
          <p:cNvSpPr>
            <a:spLocks noGrp="1"/>
          </p:cNvSpPr>
          <p:nvPr/>
        </p:nvSpPr>
        <p:spPr>
          <a:xfrm>
            <a:off x="628650" y="3600450"/>
            <a:ext cx="1123950" cy="228600"/>
          </a:xfrm>
          <a:prstGeom prst="roundRect">
            <a:avLst>
              <a:gd name="adj" fmla="val 33333"/>
            </a:avLst>
          </a:prstGeom>
          <a:solidFill>
            <a:srgbClr val="32C5FF"/>
          </a:solidFill>
          <a:ln w="9525">
            <a:solidFill>
              <a:srgbClr val="32C5F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B271A-6A51-4C69-A2C5-069A284437B9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3784F1-F6AF-4E9C-B149-E784A1297FD2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Pre-configuration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E086B-51EE-4A97-8CD0-A12F7394D2C9}"/>
              </a:ext>
            </a:extLst>
          </p:cNvPr>
          <p:cNvSpPr>
            <a:spLocks noGrp="1"/>
          </p:cNvSpPr>
          <p:nvPr/>
        </p:nvSpPr>
        <p:spPr>
          <a:xfrm>
            <a:off x="628650" y="4286250"/>
            <a:ext cx="2324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Set the Terraform root, approved regions, tags, and governed exceptions before the scan begins.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FA99CF-2987-41DC-81F4-9443BEC7DD16}"/>
              </a:ext>
            </a:extLst>
          </p:cNvPr>
          <p:cNvSpPr>
            <a:spLocks noGrp="1"/>
          </p:cNvSpPr>
          <p:nvPr/>
        </p:nvSpPr>
        <p:spPr>
          <a:xfrm>
            <a:off x="3314700" y="1504950"/>
            <a:ext cx="2667000" cy="4762500"/>
          </a:xfrm>
          <a:prstGeom prst="roundRect">
            <a:avLst>
              <a:gd name="adj" fmla="val 2857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D323DF-9496-4C14-8685-EB9172C76F1F}"/>
              </a:ext>
            </a:extLst>
          </p:cNvPr>
          <p:cNvSpPr>
            <a:spLocks noGrp="1"/>
          </p:cNvSpPr>
          <p:nvPr/>
        </p:nvSpPr>
        <p:spPr>
          <a:xfrm>
            <a:off x="3314700" y="1504950"/>
            <a:ext cx="2667000" cy="571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9D72D47-6969-4EAB-951D-F2843E8FD260}"/>
              </a:ext>
            </a:extLst>
          </p:cNvPr>
          <p:cNvSpPr>
            <a:spLocks noGrp="1"/>
          </p:cNvSpPr>
          <p:nvPr/>
        </p:nvSpPr>
        <p:spPr>
          <a:xfrm>
            <a:off x="3486150" y="1676400"/>
            <a:ext cx="2324100" cy="1809750"/>
          </a:xfrm>
          <a:prstGeom prst="roundRect">
            <a:avLst>
              <a:gd name="adj" fmla="val 4211"/>
            </a:avLst>
          </a:prstGeom>
          <a:solidFill>
            <a:srgbClr val="081D33"/>
          </a:solidFill>
          <a:ln w="9525">
            <a:solidFill>
              <a:srgbClr val="274560"/>
            </a:solidFill>
            <a:prstDash val="solid"/>
          </a:ln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l="11099" r="11099"/>
          <a:stretch>
            <a:fillRect/>
          </a:stretch>
        </p:blipFill>
        <p:spPr>
          <a:xfrm>
            <a:off x="3486150" y="1676400"/>
            <a:ext cx="2324100" cy="180975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6AE860-AAD7-4311-BAB2-AEB68443F05C}"/>
              </a:ext>
            </a:extLst>
          </p:cNvPr>
          <p:cNvSpPr>
            <a:spLocks noGrp="1"/>
          </p:cNvSpPr>
          <p:nvPr/>
        </p:nvSpPr>
        <p:spPr>
          <a:xfrm>
            <a:off x="3486150" y="3600450"/>
            <a:ext cx="1123950" cy="228600"/>
          </a:xfrm>
          <a:prstGeom prst="roundRect">
            <a:avLst>
              <a:gd name="adj" fmla="val 33333"/>
            </a:avLst>
          </a:prstGeom>
          <a:solidFill>
            <a:srgbClr val="FF6B6B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7AA982-C9DC-45DD-8DE5-FD0484CAF8FF}"/>
              </a:ext>
            </a:extLst>
          </p:cNvPr>
          <p:cNvSpPr>
            <a:spLocks noGrp="1"/>
          </p:cNvSpPr>
          <p:nvPr/>
        </p:nvSpPr>
        <p:spPr>
          <a:xfrm>
            <a:off x="3581400" y="362902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DRIFT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3979A0-97CB-486E-9529-3B9767C41E0B}"/>
              </a:ext>
            </a:extLst>
          </p:cNvPr>
          <p:cNvSpPr>
            <a:spLocks noGrp="1"/>
          </p:cNvSpPr>
          <p:nvPr/>
        </p:nvSpPr>
        <p:spPr>
          <a:xfrm>
            <a:off x="3486150" y="394335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Static scan drift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E43FFE-6D48-4AC7-8AB9-128366C5613F}"/>
              </a:ext>
            </a:extLst>
          </p:cNvPr>
          <p:cNvSpPr>
            <a:spLocks noGrp="1"/>
          </p:cNvSpPr>
          <p:nvPr/>
        </p:nvSpPr>
        <p:spPr>
          <a:xfrm>
            <a:off x="3486150" y="4286250"/>
            <a:ext cx="2324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Catch risky drift in source code early, with direct attention on the exact lines that need review.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C3454E-4A3D-424F-AFC9-407965E3D3D0}"/>
              </a:ext>
            </a:extLst>
          </p:cNvPr>
          <p:cNvSpPr>
            <a:spLocks noGrp="1"/>
          </p:cNvSpPr>
          <p:nvPr/>
        </p:nvSpPr>
        <p:spPr>
          <a:xfrm>
            <a:off x="6172200" y="1504950"/>
            <a:ext cx="2667000" cy="4762500"/>
          </a:xfrm>
          <a:prstGeom prst="roundRect">
            <a:avLst>
              <a:gd name="adj" fmla="val 2857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CC8798-B848-4B90-86FC-8615EE6FDC8C}"/>
              </a:ext>
            </a:extLst>
          </p:cNvPr>
          <p:cNvSpPr>
            <a:spLocks noGrp="1"/>
          </p:cNvSpPr>
          <p:nvPr/>
        </p:nvSpPr>
        <p:spPr>
          <a:xfrm>
            <a:off x="6172200" y="1504950"/>
            <a:ext cx="2667000" cy="5715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0">
            <a:solidFill>
              <a:srgbClr val="FFB547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E48D656-CEAC-45F5-A1E7-064B75D8BDD6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2324100" cy="1809750"/>
          </a:xfrm>
          <a:prstGeom prst="roundRect">
            <a:avLst>
              <a:gd name="adj" fmla="val 4211"/>
            </a:avLst>
          </a:prstGeom>
          <a:solidFill>
            <a:srgbClr val="081D33"/>
          </a:solidFill>
          <a:ln w="9525">
            <a:solidFill>
              <a:srgbClr val="274560"/>
            </a:solidFill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rcRect t="9412" b="9412"/>
          <a:stretch>
            <a:fillRect/>
          </a:stretch>
        </p:blipFill>
        <p:spPr>
          <a:xfrm>
            <a:off x="6343650" y="1676400"/>
            <a:ext cx="2324100" cy="1809750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6930DCF-D54E-4075-8A12-677476D4FBD1}"/>
              </a:ext>
            </a:extLst>
          </p:cNvPr>
          <p:cNvSpPr>
            <a:spLocks noGrp="1"/>
          </p:cNvSpPr>
          <p:nvPr/>
        </p:nvSpPr>
        <p:spPr>
          <a:xfrm>
            <a:off x="6343650" y="3600450"/>
            <a:ext cx="1123950" cy="228600"/>
          </a:xfrm>
          <a:prstGeom prst="roundRect">
            <a:avLst>
              <a:gd name="adj" fmla="val 33333"/>
            </a:avLst>
          </a:prstGeom>
          <a:solidFill>
            <a:srgbClr val="FFB547"/>
          </a:solidFill>
          <a:ln w="9525">
            <a:solidFill>
              <a:srgbClr val="FFB547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4D618F-6CD4-40A6-850C-E2EB27FB622E}"/>
              </a:ext>
            </a:extLst>
          </p:cNvPr>
          <p:cNvSpPr>
            <a:spLocks noGrp="1"/>
          </p:cNvSpPr>
          <p:nvPr/>
        </p:nvSpPr>
        <p:spPr>
          <a:xfrm>
            <a:off x="6438900" y="362902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RESOLVED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9B7502-D701-4530-BCA0-D262508E570C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Plan scan findings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6F06CE-771B-4113-8E21-D27122FB094D}"/>
              </a:ext>
            </a:extLst>
          </p:cNvPr>
          <p:cNvSpPr>
            <a:spLocks noGrp="1"/>
          </p:cNvSpPr>
          <p:nvPr/>
        </p:nvSpPr>
        <p:spPr>
          <a:xfrm>
            <a:off x="6343650" y="4286250"/>
            <a:ext cx="23241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Review resolved controls, blast radius, and remediation after Terraform plan values are known.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738153F-6F6F-42E7-8C59-7CBEF74445DC}"/>
              </a:ext>
            </a:extLst>
          </p:cNvPr>
          <p:cNvSpPr>
            <a:spLocks noGrp="1"/>
          </p:cNvSpPr>
          <p:nvPr/>
        </p:nvSpPr>
        <p:spPr>
          <a:xfrm>
            <a:off x="9029700" y="1504950"/>
            <a:ext cx="2705100" cy="4762500"/>
          </a:xfrm>
          <a:prstGeom prst="roundRect">
            <a:avLst>
              <a:gd name="adj" fmla="val 2817"/>
            </a:avLst>
          </a:prstGeom>
          <a:solidFill>
            <a:srgbClr val="10263D"/>
          </a:solidFill>
          <a:ln w="9525">
            <a:solidFill>
              <a:srgbClr val="31506C"/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417B0BF-2C0B-4B39-9EDB-49A607817F7F}"/>
              </a:ext>
            </a:extLst>
          </p:cNvPr>
          <p:cNvSpPr>
            <a:spLocks noGrp="1"/>
          </p:cNvSpPr>
          <p:nvPr/>
        </p:nvSpPr>
        <p:spPr>
          <a:xfrm>
            <a:off x="9029700" y="1504950"/>
            <a:ext cx="2705100" cy="57150"/>
          </a:xfrm>
          <a:prstGeom prst="roundRect">
            <a:avLst>
              <a:gd name="adj" fmla="val 50000"/>
            </a:avLst>
          </a:prstGeom>
          <a:solidFill>
            <a:srgbClr val="2CCB8C"/>
          </a:solidFill>
          <a:ln w="0">
            <a:solidFill>
              <a:srgbClr val="2CCB8C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56D948-CE66-4A5A-BC35-FA373B63511C}"/>
              </a:ext>
            </a:extLst>
          </p:cNvPr>
          <p:cNvSpPr>
            <a:spLocks noGrp="1"/>
          </p:cNvSpPr>
          <p:nvPr/>
        </p:nvSpPr>
        <p:spPr>
          <a:xfrm>
            <a:off x="9201150" y="1676400"/>
            <a:ext cx="2362200" cy="1809750"/>
          </a:xfrm>
          <a:prstGeom prst="roundRect">
            <a:avLst>
              <a:gd name="adj" fmla="val 4211"/>
            </a:avLst>
          </a:prstGeom>
          <a:solidFill>
            <a:srgbClr val="081D33"/>
          </a:solidFill>
          <a:ln w="9525">
            <a:solidFill>
              <a:srgbClr val="274560"/>
            </a:solidFill>
            <a:prstDash val="solid"/>
          </a:ln>
        </p:spPr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rcRect l="13289" r="13289"/>
          <a:stretch>
            <a:fillRect/>
          </a:stretch>
        </p:blipFill>
        <p:spPr>
          <a:xfrm>
            <a:off x="9201150" y="1676400"/>
            <a:ext cx="2362200" cy="180975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8086C73-0901-4BFD-9A48-661E165C1E50}"/>
              </a:ext>
            </a:extLst>
          </p:cNvPr>
          <p:cNvSpPr>
            <a:spLocks noGrp="1"/>
          </p:cNvSpPr>
          <p:nvPr/>
        </p:nvSpPr>
        <p:spPr>
          <a:xfrm>
            <a:off x="9201150" y="3600450"/>
            <a:ext cx="1123950" cy="228600"/>
          </a:xfrm>
          <a:prstGeom prst="roundRect">
            <a:avLst>
              <a:gd name="adj" fmla="val 33333"/>
            </a:avLst>
          </a:prstGeom>
          <a:solidFill>
            <a:srgbClr val="2CCB8C"/>
          </a:solidFill>
          <a:ln w="9525">
            <a:solidFill>
              <a:srgbClr val="2CCB8C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54DB7A-525E-4939-8C97-697D60EC2A9A}"/>
              </a:ext>
            </a:extLst>
          </p:cNvPr>
          <p:cNvSpPr>
            <a:spLocks noGrp="1"/>
          </p:cNvSpPr>
          <p:nvPr/>
        </p:nvSpPr>
        <p:spPr>
          <a:xfrm>
            <a:off x="9296400" y="3629025"/>
            <a:ext cx="93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50" b="1">
                <a:solidFill>
                  <a:srgbClr val="07182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7182C"/>
                </a:solidFill>
                <a:latin typeface="Aptos"/>
                <a:ea typeface="Aptos"/>
                <a:cs typeface="Aptos"/>
              </a:rPr>
              <a:t>PREVIEW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D0DBFE-A270-4F3E-B6FA-CC8B649A474D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2362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7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7FBFF"/>
                </a:solidFill>
                <a:latin typeface="Aptos"/>
                <a:ea typeface="Aptos"/>
                <a:cs typeface="Aptos"/>
              </a:rPr>
              <a:t>Cloud Canvas preview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8E8576-6647-4A85-8F6A-8D9F44468FD8}"/>
              </a:ext>
            </a:extLst>
          </p:cNvPr>
          <p:cNvSpPr>
            <a:spLocks noGrp="1"/>
          </p:cNvSpPr>
          <p:nvPr/>
        </p:nvSpPr>
        <p:spPr>
          <a:xfrm>
            <a:off x="9201150" y="4286250"/>
            <a:ext cx="236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D7E4F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E4F2"/>
                </a:solidFill>
                <a:latin typeface="Aptos"/>
                <a:ea typeface="Aptos"/>
                <a:cs typeface="Aptos"/>
              </a:rPr>
              <a:t>Sketch governed architecture visually, then move into Terraform preview and validation with context.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F84C92-4207-4321-B5E9-46315BCDE53A}"/>
              </a:ext>
            </a:extLst>
          </p:cNvPr>
          <p:cNvSpPr>
            <a:spLocks noGrp="1"/>
          </p:cNvSpPr>
          <p:nvPr/>
        </p:nvSpPr>
        <p:spPr>
          <a:xfrm>
            <a:off x="457200" y="6362700"/>
            <a:ext cx="11277600" cy="9525"/>
          </a:xfrm>
          <a:prstGeom prst="rect">
            <a:avLst/>
          </a:prstGeom>
          <a:solidFill>
            <a:srgbClr val="31506C"/>
          </a:solidFill>
          <a:ln w="0">
            <a:solidFill>
              <a:srgbClr val="31506C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09F8DA-9307-473F-A029-59741216683C}"/>
              </a:ext>
            </a:extLst>
          </p:cNvPr>
          <p:cNvSpPr>
            <a:spLocks noGrp="1"/>
          </p:cNvSpPr>
          <p:nvPr/>
        </p:nvSpPr>
        <p:spPr>
          <a:xfrm>
            <a:off x="457200" y="6534150"/>
            <a:ext cx="590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8FA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8FA9C2"/>
                </a:solidFill>
                <a:latin typeface="Aptos"/>
                <a:ea typeface="Aptos"/>
                <a:cs typeface="Aptos"/>
              </a:rPr>
              <a:t>LinkedIn promo: real product flow across policy, scan, findings, and design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2CB386-519C-4EB7-B7EB-F428C3CAA04F}"/>
              </a:ext>
            </a:extLst>
          </p:cNvPr>
          <p:cNvSpPr>
            <a:spLocks noGrp="1"/>
          </p:cNvSpPr>
          <p:nvPr/>
        </p:nvSpPr>
        <p:spPr>
          <a:xfrm>
            <a:off x="9858375" y="6534150"/>
            <a:ext cx="18764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FFB54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B547"/>
                </a:solidFill>
                <a:latin typeface="Aptos"/>
                <a:ea typeface="Aptos"/>
                <a:cs typeface="Aptos"/>
              </a:rPr>
              <a:t>0.1.2  |  PUBLIC PREVIEW</a:t>
            </a:r>
          </a:p>
        </p:txBody>
      </p:sp>
    </p:spTree>
    <p:extLst>
      <p:ext uri="{BB962C8B-B14F-4D97-AF65-F5344CB8AC3E}">
        <p14:creationId xmlns:p14="http://schemas.microsoft.com/office/powerpoint/2010/main" val="763843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DocSecurity>0</DocSecurity>
  <PresentationFormat>Widescreen</PresentationFormat>
  <Paragraphs>151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Chendrayan Venkatesan</cp:lastModifiedBy>
  <cp:revision>2</cp:revision>
  <dcterms:created xsi:type="dcterms:W3CDTF">2026-06-16T10:04:45Z</dcterms:created>
  <dcterms:modified xsi:type="dcterms:W3CDTF">2026-06-16T10:08:38Z</dcterms:modified>
</cp:coreProperties>
</file>