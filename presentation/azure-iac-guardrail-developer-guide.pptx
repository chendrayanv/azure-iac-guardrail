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1245341aa4345a6" /><Relationship Type="http://schemas.openxmlformats.org/officeDocument/2006/relationships/extended-properties" Target="/docProps/app.xml" Id="R3964fa4d8e0a40a1" /><Relationship Type="http://schemas.openxmlformats.org/officeDocument/2006/relationships/officeDocument" Target="/ppt/presentation.xml" Id="Rc5f10d6832774a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9ff0805a1144a6"/>
  </p:sldMasterIdLst>
  <p:notesMasterIdLst>
    <p:notesMasterId xmlns:r="http://schemas.openxmlformats.org/officeDocument/2006/relationships" r:id="Raba612d62474430c"/>
  </p:notesMasterIdLst>
  <p:sldIdLst>
    <p:sldId xmlns:r="http://schemas.openxmlformats.org/officeDocument/2006/relationships" id="256" r:id="R22a150ca07884149"/>
    <p:sldId xmlns:r="http://schemas.openxmlformats.org/officeDocument/2006/relationships" id="257" r:id="R0013a3dbdb104ffb"/>
    <p:sldId xmlns:r="http://schemas.openxmlformats.org/officeDocument/2006/relationships" id="258" r:id="R36b5bfa060cd42e4"/>
    <p:sldId xmlns:r="http://schemas.openxmlformats.org/officeDocument/2006/relationships" id="259" r:id="R4d229f6dacf34bd9"/>
    <p:sldId xmlns:r="http://schemas.openxmlformats.org/officeDocument/2006/relationships" id="260" r:id="R4ae000dfc4cd4d57"/>
    <p:sldId xmlns:r="http://schemas.openxmlformats.org/officeDocument/2006/relationships" id="261" r:id="R92ff5300abf84f34"/>
    <p:sldId xmlns:r="http://schemas.openxmlformats.org/officeDocument/2006/relationships" id="262" r:id="R53ad5b1e407b466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bebd19e04ca4b8d" /><Relationship Type="http://schemas.openxmlformats.org/officeDocument/2006/relationships/slideMaster" Target="/ppt/slideMasters/slideMaster1.xml" Id="R619ff0805a1144a6" /><Relationship Type="http://schemas.openxmlformats.org/officeDocument/2006/relationships/notesMaster" Target="/ppt/notesMasters/notesMaster1.xml" Id="Raba612d62474430c" /><Relationship Type="http://schemas.openxmlformats.org/officeDocument/2006/relationships/presProps" Target="/ppt/presProps.xml" Id="Rb25e46699f26466b" /><Relationship Type="http://schemas.openxmlformats.org/officeDocument/2006/relationships/viewProps" Target="/ppt/viewProps.xml" Id="R533415d8508b4035" /><Relationship Type="http://schemas.openxmlformats.org/officeDocument/2006/relationships/tableStyles" Target="/ppt/tableStyles.xml" Id="Ra30d9a3689f14888" /><Relationship Type="http://schemas.openxmlformats.org/officeDocument/2006/relationships/slide" Target="/ppt/slides/slide1.xml" Id="R22a150ca07884149" /><Relationship Type="http://schemas.openxmlformats.org/officeDocument/2006/relationships/slide" Target="/ppt/slides/slide2.xml" Id="R0013a3dbdb104ffb" /><Relationship Type="http://schemas.openxmlformats.org/officeDocument/2006/relationships/slide" Target="/ppt/slides/slide3.xml" Id="R36b5bfa060cd42e4" /><Relationship Type="http://schemas.openxmlformats.org/officeDocument/2006/relationships/slide" Target="/ppt/slides/slide4.xml" Id="R4d229f6dacf34bd9" /><Relationship Type="http://schemas.openxmlformats.org/officeDocument/2006/relationships/slide" Target="/ppt/slides/slide5.xml" Id="R4ae000dfc4cd4d57" /><Relationship Type="http://schemas.openxmlformats.org/officeDocument/2006/relationships/slide" Target="/ppt/slides/slide6.xml" Id="R92ff5300abf84f34" /><Relationship Type="http://schemas.openxmlformats.org/officeDocument/2006/relationships/slide" Target="/ppt/slides/slide7.xml" Id="R53ad5b1e407b466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7d6a1dd51c84cb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1c2cf2d0a324eb4" /><Relationship Type="http://schemas.openxmlformats.org/officeDocument/2006/relationships/notesMaster" Target="/ppt/notesMasters/notesMaster1.xml" Id="R76992c30f705408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78adc6985654dae" /><Relationship Type="http://schemas.openxmlformats.org/officeDocument/2006/relationships/notesMaster" Target="/ppt/notesMasters/notesMaster1.xml" Id="Re66dc6989ffb416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3728b1330744eb7" /><Relationship Type="http://schemas.openxmlformats.org/officeDocument/2006/relationships/notesMaster" Target="/ppt/notesMasters/notesMaster1.xml" Id="R73777cdb7bb24bb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28d4a2af9b64257" /><Relationship Type="http://schemas.openxmlformats.org/officeDocument/2006/relationships/notesMaster" Target="/ppt/notesMasters/notesMaster1.xml" Id="Rd10d5deecd0a40e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9b725e622334f61" /><Relationship Type="http://schemas.openxmlformats.org/officeDocument/2006/relationships/notesMaster" Target="/ppt/notesMasters/notesMaster1.xml" Id="R0b6e6e124e44435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a69dadaa9194bd4" /><Relationship Type="http://schemas.openxmlformats.org/officeDocument/2006/relationships/notesMaster" Target="/ppt/notesMasters/notesMaster1.xml" Id="Rc5363d860bec4e2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ec846764df2432f" /><Relationship Type="http://schemas.openxmlformats.org/officeDocument/2006/relationships/notesMaster" Target="/ppt/notesMasters/notesMaster1.xml" Id="Rd33e6694f48c40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985a5a01764ab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d7c45d70c04b90" /><Relationship Type="http://schemas.openxmlformats.org/officeDocument/2006/relationships/slideLayout" Target="/ppt/slideLayouts/slideLayout1.xml" Id="Rabd12ed81b264fe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d12ed81b264fe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8f9c6651644bd3" /><Relationship Type="http://schemas.openxmlformats.org/officeDocument/2006/relationships/image" Target="/ppt/media/image.png" Id="Rd0d7dc3f849c4694" /><Relationship Type="http://schemas.openxmlformats.org/officeDocument/2006/relationships/image" Target="/ppt/media/image2.png" Id="Ra50bd910b99a4747" /><Relationship Type="http://schemas.openxmlformats.org/officeDocument/2006/relationships/image" Target="/ppt/media/image.svg" Id="Ra52333efcfc4494d" /><Relationship Type="http://schemas.openxmlformats.org/officeDocument/2006/relationships/image" Target="/ppt/media/image3.png" Id="R3c197f608ae3468a" /><Relationship Type="http://schemas.openxmlformats.org/officeDocument/2006/relationships/image" Target="/ppt/media/image2.svg" Id="Re515b52b022642bf" /><Relationship Type="http://schemas.openxmlformats.org/officeDocument/2006/relationships/image" Target="/ppt/media/image4.png" Id="R000e7fa26aa34c76" /><Relationship Type="http://schemas.openxmlformats.org/officeDocument/2006/relationships/image" Target="/ppt/media/image3.svg" Id="Rd73ae933cce3406f" /><Relationship Type="http://schemas.openxmlformats.org/officeDocument/2006/relationships/image" Target="/ppt/media/image5.png" Id="Ra9d4565c30e5400e" /><Relationship Type="http://schemas.openxmlformats.org/officeDocument/2006/relationships/image" Target="/ppt/media/image4.svg" Id="R65e5349e3af14ab0" /><Relationship Type="http://schemas.openxmlformats.org/officeDocument/2006/relationships/notesSlide" Target="/ppt/notesSlides/notesSlide1.xml" Id="R63a3d87c7516445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55049465df4f0c" /><Relationship Type="http://schemas.openxmlformats.org/officeDocument/2006/relationships/image" Target="/ppt/media/image6.png" Id="R635cc9d6ce3e4e9b" /><Relationship Type="http://schemas.openxmlformats.org/officeDocument/2006/relationships/image" Target="/ppt/media/image7.png" Id="R4eb80c607dde45fe" /><Relationship Type="http://schemas.openxmlformats.org/officeDocument/2006/relationships/image" Target="/ppt/media/image5.svg" Id="Re3a454a238614e3b" /><Relationship Type="http://schemas.openxmlformats.org/officeDocument/2006/relationships/image" Target="/ppt/media/image8.png" Id="R38dda235c0e946ce" /><Relationship Type="http://schemas.openxmlformats.org/officeDocument/2006/relationships/image" Target="/ppt/media/image6.svg" Id="R3816e4c5fb324703" /><Relationship Type="http://schemas.openxmlformats.org/officeDocument/2006/relationships/image" Target="/ppt/media/image9.png" Id="R6db43104319e44d2" /><Relationship Type="http://schemas.openxmlformats.org/officeDocument/2006/relationships/image" Target="/ppt/media/image7.svg" Id="R235c46bb94e948a7" /><Relationship Type="http://schemas.openxmlformats.org/officeDocument/2006/relationships/image" Target="/ppt/media/image10.png" Id="R59c23a324c6943dc" /><Relationship Type="http://schemas.openxmlformats.org/officeDocument/2006/relationships/image" Target="/ppt/media/image8.svg" Id="R31cbfdc68ad041e3" /><Relationship Type="http://schemas.openxmlformats.org/officeDocument/2006/relationships/notesSlide" Target="/ppt/notesSlides/notesSlide2.xml" Id="R8c64406cd2ea47c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47b66fd93d4711" /><Relationship Type="http://schemas.openxmlformats.org/officeDocument/2006/relationships/image" Target="/ppt/media/image11.png" Id="R294c88a1da674ef9" /><Relationship Type="http://schemas.openxmlformats.org/officeDocument/2006/relationships/image" Target="/ppt/media/image12.png" Id="R3b02d2baf96e4297" /><Relationship Type="http://schemas.openxmlformats.org/officeDocument/2006/relationships/image" Target="/ppt/media/image9.svg" Id="R0f1c8c72bf994f92" /><Relationship Type="http://schemas.openxmlformats.org/officeDocument/2006/relationships/image" Target="/ppt/media/image13.png" Id="Rb51797a3acc74a75" /><Relationship Type="http://schemas.openxmlformats.org/officeDocument/2006/relationships/image" Target="/ppt/media/image10.svg" Id="R00e45617bf69434c" /><Relationship Type="http://schemas.openxmlformats.org/officeDocument/2006/relationships/image" Target="/ppt/media/image14.png" Id="R9ab42009fe974c0f" /><Relationship Type="http://schemas.openxmlformats.org/officeDocument/2006/relationships/image" Target="/ppt/media/image11.svg" Id="R900cd8904c9545ec" /><Relationship Type="http://schemas.openxmlformats.org/officeDocument/2006/relationships/image" Target="/ppt/media/image15.png" Id="R5f299bbe566c4632" /><Relationship Type="http://schemas.openxmlformats.org/officeDocument/2006/relationships/image" Target="/ppt/media/image12.svg" Id="R13e1df758e5243c7" /><Relationship Type="http://schemas.openxmlformats.org/officeDocument/2006/relationships/image" Target="/ppt/media/image16.png" Id="R8e297aae14054075" /><Relationship Type="http://schemas.openxmlformats.org/officeDocument/2006/relationships/image" Target="/ppt/media/image13.svg" Id="Re5bf3a79ba584c53" /><Relationship Type="http://schemas.openxmlformats.org/officeDocument/2006/relationships/notesSlide" Target="/ppt/notesSlides/notesSlide3.xml" Id="R944fa78ad29b4dd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18bb9374af4be4" /><Relationship Type="http://schemas.openxmlformats.org/officeDocument/2006/relationships/image" Target="/ppt/media/image17.png" Id="R1e4f5ae5461a4cc6" /><Relationship Type="http://schemas.openxmlformats.org/officeDocument/2006/relationships/image" Target="/ppt/media/image18.png" Id="R62e9d6e271384630" /><Relationship Type="http://schemas.openxmlformats.org/officeDocument/2006/relationships/image" Target="/ppt/media/image14.svg" Id="Rd7a2b48dd1694843" /><Relationship Type="http://schemas.openxmlformats.org/officeDocument/2006/relationships/image" Target="/ppt/media/image19.png" Id="R6935069dd6dd4956" /><Relationship Type="http://schemas.openxmlformats.org/officeDocument/2006/relationships/image" Target="/ppt/media/image15.svg" Id="R5f0c486a75334d83" /><Relationship Type="http://schemas.openxmlformats.org/officeDocument/2006/relationships/image" Target="/ppt/media/image20.png" Id="R31891ce1d2174ec2" /><Relationship Type="http://schemas.openxmlformats.org/officeDocument/2006/relationships/image" Target="/ppt/media/image16.svg" Id="R2264dbf5420f44b0" /><Relationship Type="http://schemas.openxmlformats.org/officeDocument/2006/relationships/image" Target="/ppt/media/image21.png" Id="Rf60270bb02164108" /><Relationship Type="http://schemas.openxmlformats.org/officeDocument/2006/relationships/image" Target="/ppt/media/image17.svg" Id="R246fb3a992da4583" /><Relationship Type="http://schemas.openxmlformats.org/officeDocument/2006/relationships/image" Target="/ppt/media/image22.png" Id="Rb719769550434519" /><Relationship Type="http://schemas.openxmlformats.org/officeDocument/2006/relationships/image" Target="/ppt/media/image18.svg" Id="R36d1c7b0f55349ac" /><Relationship Type="http://schemas.openxmlformats.org/officeDocument/2006/relationships/image" Target="/ppt/media/image23.png" Id="R83c77599d1b3412b" /><Relationship Type="http://schemas.openxmlformats.org/officeDocument/2006/relationships/image" Target="/ppt/media/image19.svg" Id="R252f0b3b7bb64940" /><Relationship Type="http://schemas.openxmlformats.org/officeDocument/2006/relationships/image" Target="/ppt/media/image24.png" Id="Re3abba94a5d34512" /><Relationship Type="http://schemas.openxmlformats.org/officeDocument/2006/relationships/image" Target="/ppt/media/image20.svg" Id="R8d5f4bb4d8b5441f" /><Relationship Type="http://schemas.openxmlformats.org/officeDocument/2006/relationships/notesSlide" Target="/ppt/notesSlides/notesSlide4.xml" Id="R54f9bfcac987428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43748b9471405d" /><Relationship Type="http://schemas.openxmlformats.org/officeDocument/2006/relationships/image" Target="/ppt/media/image25.png" Id="R2aecc0da9c6b424f" /><Relationship Type="http://schemas.openxmlformats.org/officeDocument/2006/relationships/image" Target="/ppt/media/image26.png" Id="R39e64a9b60734669" /><Relationship Type="http://schemas.openxmlformats.org/officeDocument/2006/relationships/image" Target="/ppt/media/image21.svg" Id="R49d1bcd2fa83477d" /><Relationship Type="http://schemas.openxmlformats.org/officeDocument/2006/relationships/image" Target="/ppt/media/image27.png" Id="R5af02a9dde4141a9" /><Relationship Type="http://schemas.openxmlformats.org/officeDocument/2006/relationships/image" Target="/ppt/media/image22.svg" Id="Rb92e3c909dd2427c" /><Relationship Type="http://schemas.openxmlformats.org/officeDocument/2006/relationships/image" Target="/ppt/media/image28.png" Id="R0ef08e59783b432a" /><Relationship Type="http://schemas.openxmlformats.org/officeDocument/2006/relationships/image" Target="/ppt/media/image23.svg" Id="R27caee68aa9d4803" /><Relationship Type="http://schemas.openxmlformats.org/officeDocument/2006/relationships/image" Target="/ppt/media/image29.png" Id="Rcfb2b64c80ad46a9" /><Relationship Type="http://schemas.openxmlformats.org/officeDocument/2006/relationships/image" Target="/ppt/media/image24.svg" Id="R73062af73a9543f3" /><Relationship Type="http://schemas.openxmlformats.org/officeDocument/2006/relationships/notesSlide" Target="/ppt/notesSlides/notesSlide5.xml" Id="R15852871853a4cb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69b61f9cdf4fef" /><Relationship Type="http://schemas.openxmlformats.org/officeDocument/2006/relationships/image" Target="/ppt/media/image30.png" Id="R42c003cd13554346" /><Relationship Type="http://schemas.openxmlformats.org/officeDocument/2006/relationships/notesSlide" Target="/ppt/notesSlides/notesSlide6.xml" Id="R2cfada7650ff4e0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51f8dbad2f4e03" /><Relationship Type="http://schemas.openxmlformats.org/officeDocument/2006/relationships/image" Target="/ppt/media/image31.png" Id="R780b7276158348f2" /><Relationship Type="http://schemas.openxmlformats.org/officeDocument/2006/relationships/notesSlide" Target="/ppt/notesSlides/notesSlide7.xml" Id="R3eeae8c0e38c463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8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d7dc3f849c4694"/>
          <a:stretch xmlns:a="http://schemas.openxmlformats.org/drawingml/2006/main"/>
        </p:blipFill>
        <p:spPr>
          <a:xfrm xmlns:a="http://schemas.openxmlformats.org/drawingml/2006/main">
            <a:off x="457200" y="304800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98EA2E2-EE52-4B1C-AD91-6C19E8679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385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2C5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2C5FF"/>
                </a:solidFill>
                <a:latin typeface="Aptos"/>
                <a:ea typeface="Aptos"/>
                <a:cs typeface="Aptos"/>
              </a:rPr>
              <a:t>AZURE IaC GUARDRAIL  |  DEVELOPER JOURNEY</a:t>
            </a:r>
          </a:p>
        </p:txBody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256A4D8-6AE0-4D0D-BF59-C4FC29D0D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528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C5FF"/>
          </a:solidFill>
          <a:ln xmlns:a="http://schemas.openxmlformats.org/drawingml/2006/main" w="0">
            <a:solidFill>
              <a:srgbClr val="32C5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55D206-E7EB-4F4D-973C-404DB974A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2925"/>
            <a:ext cx="9906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From Terraform authoring to review-ready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25A2AF-C2BD-4CD8-AA02-3F4A20796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000125"/>
            <a:ext cx="942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E4F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7E4F2"/>
                </a:solidFill>
                <a:latin typeface="Aptos"/>
                <a:ea typeface="Aptos"/>
                <a:cs typeface="Aptos"/>
              </a:rPr>
              <a:t>Choose the lightest scan that answers the engineering question, then escalate to resolved-plan review.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458F23-A4E4-469A-B61F-F71EC10F0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FA9C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FA9C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6B0F97-BF49-4B23-BEE9-28EDC3266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2590800" cy="333375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10263D"/>
          </a:solidFill>
          <a:ln xmlns:a="http://schemas.openxmlformats.org/drawingml/2006/main" w="9525">
            <a:solidFill>
              <a:srgbClr val="31506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0997C6-C7A3-473E-9B55-ACD5E4DD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25908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C5FF"/>
          </a:solidFill>
          <a:ln xmlns:a="http://schemas.openxmlformats.org/drawingml/2006/main" w="0">
            <a:solidFill>
              <a:srgbClr val="32C5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099483-DC3C-4B4E-9204-DCE831CAF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764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1D33"/>
          </a:solidFill>
          <a:ln xmlns:a="http://schemas.openxmlformats.org/drawingml/2006/main" w="9525">
            <a:solidFill>
              <a:srgbClr val="32C5FF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0bd910b99a4747">
            <a:extLst>
              <a:ext uri="{96DAC541-7B7A-43D3-8B79-37D633B846F1}">
                <asvg:svgBlip xmlns:asvg="http://schemas.microsoft.com/office/drawing/2016/SVG/main" r:embed="Ra52333efcfc4494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52475" y="218122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B1A147-7F7B-4658-90A7-2D380372A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09550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32C5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2C5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8ED2CB-1BF9-4A92-BD01-1EAF3A55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76525"/>
            <a:ext cx="2209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Configure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A87FD2-DDE2-45C2-AA6C-4D9FC6E4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22098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81D33"/>
          </a:solidFill>
          <a:ln xmlns:a="http://schemas.openxmlformats.org/drawingml/2006/main" w="9525">
            <a:solidFill>
              <a:srgbClr val="31506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C65129-A409-4550-964F-C9230527A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81350"/>
            <a:ext cx="1943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2C5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32C5FF"/>
                </a:solidFill>
                <a:latin typeface="Aptos Mono"/>
                <a:ea typeface="Aptos Mono"/>
                <a:cs typeface="Aptos Mono"/>
              </a:rPr>
              <a:t>Azure Pre-configuration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F94E0D-E730-484F-8991-D3C0B50D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33800"/>
            <a:ext cx="22098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4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7E4F2"/>
                </a:solidFill>
                <a:latin typeface="Aptos"/>
                <a:ea typeface="Aptos"/>
                <a:cs typeface="Aptos"/>
              </a:rPr>
              <a:t>Root module, regions, tags, exceptions, and cost assumptions.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E14D88-25BB-43DC-BAD2-3485BB85F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809750"/>
            <a:ext cx="2590800" cy="333375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10263D"/>
          </a:solidFill>
          <a:ln xmlns:a="http://schemas.openxmlformats.org/drawingml/2006/main" w="9525">
            <a:solidFill>
              <a:srgbClr val="31506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F9A7DB-894C-431A-A083-15F671489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809750"/>
            <a:ext cx="25908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3FF"/>
          </a:solidFill>
          <a:ln xmlns:a="http://schemas.openxmlformats.org/drawingml/2006/main" w="0">
            <a:solidFill>
              <a:srgbClr val="1683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7C4190-A4CC-4BAC-AE37-B482EEC5D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764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1D33"/>
          </a:solidFill>
          <a:ln xmlns:a="http://schemas.openxmlformats.org/drawingml/2006/main" w="9525">
            <a:solidFill>
              <a:srgbClr val="1683FF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197f608ae3468a">
            <a:extLst>
              <a:ext uri="{96DAC541-7B7A-43D3-8B79-37D633B846F1}">
                <asvg:svgBlip xmlns:asvg="http://schemas.microsoft.com/office/drawing/2016/SVG/main" r:embed="Re515b52b022642b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648075" y="218122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4C5381-AF51-4875-82B6-D01C9286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9550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683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83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BF2967-157E-4DF6-B4E6-7FCD9C76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76525"/>
            <a:ext cx="2209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Scan source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B5663B-96D6-4D19-B38E-2CCC2734E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114675"/>
            <a:ext cx="22098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81D33"/>
          </a:solidFill>
          <a:ln xmlns:a="http://schemas.openxmlformats.org/drawingml/2006/main" w="9525">
            <a:solidFill>
              <a:srgbClr val="31506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9DB4BD-6E72-4EEA-B759-946871BDF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181350"/>
            <a:ext cx="1943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3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683FF"/>
                </a:solidFill>
                <a:latin typeface="Aptos Mono"/>
                <a:ea typeface="Aptos Mono"/>
                <a:cs typeface="Aptos Mono"/>
              </a:rPr>
              <a:t>Scan Terraform Files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5EB842-4A71-4835-965B-65B42AB0C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33800"/>
            <a:ext cx="22098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4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7E4F2"/>
                </a:solidFill>
                <a:latin typeface="Aptos"/>
                <a:ea typeface="Aptos"/>
                <a:cs typeface="Aptos"/>
              </a:rPr>
              <a:t>Immediate offline feedback from Terraform source and supported values.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199F30-2D9A-4E04-BAB0-A06D24018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09750"/>
            <a:ext cx="2590800" cy="333375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10263D"/>
          </a:solidFill>
          <a:ln xmlns:a="http://schemas.openxmlformats.org/drawingml/2006/main" w="9525">
            <a:solidFill>
              <a:srgbClr val="31506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F30D56-010F-488D-B2B6-D6A07786F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09750"/>
            <a:ext cx="25908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547"/>
          </a:solidFill>
          <a:ln xmlns:a="http://schemas.openxmlformats.org/drawingml/2006/main" w="0">
            <a:solidFill>
              <a:srgbClr val="FFB54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B9B0F1-134D-4FF0-8254-E01BE08F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764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1D33"/>
          </a:solidFill>
          <a:ln xmlns:a="http://schemas.openxmlformats.org/drawingml/2006/main" w="9525">
            <a:solidFill>
              <a:srgbClr val="FFB547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0e7fa26aa34c76">
            <a:extLst>
              <a:ext uri="{96DAC541-7B7A-43D3-8B79-37D633B846F1}">
                <asvg:svgBlip xmlns:asvg="http://schemas.microsoft.com/office/drawing/2016/SVG/main" r:embed="Rd73ae933cce3406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543675" y="218122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D57382-CE7F-4CA8-BCD0-9CBEB9F53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9550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B54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B547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28C36E-B9A5-4C5A-A5D2-E0F7397FE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76525"/>
            <a:ext cx="2209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Resolve with plan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0BAAA1-9A1F-41A3-9762-ADEB9199D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14675"/>
            <a:ext cx="22098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81D33"/>
          </a:solidFill>
          <a:ln xmlns:a="http://schemas.openxmlformats.org/drawingml/2006/main" w="9525">
            <a:solidFill>
              <a:srgbClr val="31506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3FA7A6-7DB0-408F-B318-9074F6878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81350"/>
            <a:ext cx="1943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B54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B547"/>
                </a:solidFill>
                <a:latin typeface="Aptos Mono"/>
                <a:ea typeface="Aptos Mono"/>
                <a:cs typeface="Aptos Mono"/>
              </a:rPr>
              <a:t>Scan Existing Terraform Plan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92D3082-97C2-45C9-9AEF-F0F6E977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33800"/>
            <a:ext cx="22098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4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7E4F2"/>
                </a:solidFill>
                <a:latin typeface="Aptos"/>
                <a:ea typeface="Aptos"/>
                <a:cs typeface="Aptos"/>
              </a:rPr>
              <a:t>Exact instances, computed values, actions, relationships, and plan-only controls.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3413D10-7A57-4E42-BE80-8EF4F51F2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09750"/>
            <a:ext cx="2590800" cy="333375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10263D"/>
          </a:solidFill>
          <a:ln xmlns:a="http://schemas.openxmlformats.org/drawingml/2006/main" w="9525">
            <a:solidFill>
              <a:srgbClr val="31506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48FDFA8-209A-489D-BAFB-3D9727A6E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09750"/>
            <a:ext cx="25908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CB8C"/>
          </a:solidFill>
          <a:ln xmlns:a="http://schemas.openxmlformats.org/drawingml/2006/main" w="0">
            <a:solidFill>
              <a:srgbClr val="2CCB8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965EB6E-CE6F-4F47-B50E-55B631DBF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764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1D33"/>
          </a:solidFill>
          <a:ln xmlns:a="http://schemas.openxmlformats.org/drawingml/2006/main" w="9525">
            <a:solidFill>
              <a:srgbClr val="2CCB8C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d4565c30e5400e">
            <a:extLst>
              <a:ext uri="{96DAC541-7B7A-43D3-8B79-37D633B846F1}">
                <asvg:svgBlip xmlns:asvg="http://schemas.microsoft.com/office/drawing/2016/SVG/main" r:embed="R65e5349e3af14ab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439275" y="218122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62D7B0A-2BEB-4E0F-9872-1BDB9DDC1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209550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CCB8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CCB8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329B2EB-FE1B-46A0-BB72-8562E25D8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676525"/>
            <a:ext cx="2209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Review + evidence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BEEAACD-925D-43AB-A012-1E8E5BBFC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114675"/>
            <a:ext cx="22098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81D33"/>
          </a:solidFill>
          <a:ln xmlns:a="http://schemas.openxmlformats.org/drawingml/2006/main" w="9525">
            <a:solidFill>
              <a:srgbClr val="31506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EB41590-D838-453B-AEA6-1BAC5B0DC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181350"/>
            <a:ext cx="1943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CCB8C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2CCB8C"/>
                </a:solidFill>
                <a:latin typeface="Aptos Mono"/>
                <a:ea typeface="Aptos Mono"/>
                <a:cs typeface="Aptos Mono"/>
              </a:rPr>
              <a:t>Export Auditor Evidence Pack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E1E94B7-7186-448E-B818-BA212FE09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733800"/>
            <a:ext cx="22098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4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7E4F2"/>
                </a:solidFill>
                <a:latin typeface="Aptos"/>
                <a:ea typeface="Aptos"/>
                <a:cs typeface="Aptos"/>
              </a:rPr>
              <a:t>Review remediation and export PDF, JSON, and Markdown evidence.</a:t>
            </a:r>
          </a:p>
        </p:txBody>
      </p:sp>
      <p:cxnSp>
        <p:nvCxnSpPr>
          <p:cNvPr id="43" name=""/>
          <p:cNvCxnSpPr>
            <a:stCxn xmlns:a="http://schemas.openxmlformats.org/drawingml/2006/main" id="7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3048000" y="34766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2C5FF"/>
            </a:solidFill>
            <a:prstDash val="solid"/>
            <a:tailEnd type="arrow" w="med" len="med"/>
          </a:ln>
        </p:spPr>
      </p:cxnSp>
      <p:cxnSp>
        <p:nvCxnSpPr>
          <p:cNvPr id="44" name=""/>
          <p:cNvCxnSpPr>
            <a:stCxn xmlns:a="http://schemas.openxmlformats.org/drawingml/2006/main" id="16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5943600" y="34766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B547"/>
            </a:solidFill>
            <a:prstDash val="solid"/>
            <a:tailEnd type="arrow" w="med" len="med"/>
          </a:ln>
        </p:spPr>
      </p:cxnSp>
      <p:cxnSp>
        <p:nvCxnSpPr>
          <p:cNvPr id="45" name=""/>
          <p:cNvCxnSpPr>
            <a:stCxn xmlns:a="http://schemas.openxmlformats.org/drawingml/2006/main" id="25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8839200" y="34766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2C5FF"/>
            </a:solidFill>
            <a:prstDash val="solid"/>
            <a:tailEnd type="arrow" w="med" len="med"/>
          </a:ln>
        </p:spPr>
      </p:cxn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40D8618-602D-422F-A7E4-660091EE0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0"/>
            <a:ext cx="112776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81D33"/>
          </a:solidFill>
          <a:ln xmlns:a="http://schemas.openxmlformats.org/drawingml/2006/main" w="9525">
            <a:solidFill>
              <a:srgbClr val="31506C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A5B59D7-4EA0-47EF-8589-016814293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858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25 Azure services have executable controls  |  139 controls  |  Guardrail never runs terraform apply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DF9004A-F3F7-4C2F-BB8D-987E892E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8FA9C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8FA9C2"/>
                </a:solidFill>
                <a:latin typeface="Aptos"/>
                <a:ea typeface="Aptos"/>
                <a:cs typeface="Aptos"/>
              </a:rPr>
              <a:t>Quick start: choose static feedback or resolved-plan assurance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3E46B6E-455A-435A-B2EB-1B59A084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6534150"/>
            <a:ext cx="18764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B54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B547"/>
                </a:solidFill>
                <a:latin typeface="Aptos"/>
                <a:ea typeface="Aptos"/>
                <a:cs typeface="Aptos"/>
              </a:rPr>
              <a:t>0.1.2  |  PUBLIC PREVIEW</a:t>
            </a:r>
          </a:p>
        </p:txBody>
      </p:sp>
    </p:spTree>
    <p:extLst>
      <p:ext uri="{BB962C8B-B14F-4D97-AF65-F5344CB8AC3E}">
        <p14:creationId xmlns:p14="http://schemas.microsoft.com/office/powerpoint/2010/main" val="6943928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8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5cc9d6ce3e4e9b"/>
          <a:stretch xmlns:a="http://schemas.openxmlformats.org/drawingml/2006/main"/>
        </p:blipFill>
        <p:spPr>
          <a:xfrm xmlns:a="http://schemas.openxmlformats.org/drawingml/2006/main">
            <a:off x="457200" y="304800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863500C-46BC-4B4C-9D73-C0974164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385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2C5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2C5FF"/>
                </a:solidFill>
                <a:latin typeface="Aptos"/>
                <a:ea typeface="Aptos"/>
                <a:cs typeface="Aptos"/>
              </a:rPr>
              <a:t>AZURE IaC GUARDRAIL  |  INSTALLATION</a:t>
            </a:r>
          </a:p>
        </p:txBody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0142CE0-5BF6-485F-B416-6671504BD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528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C5FF"/>
          </a:solidFill>
          <a:ln xmlns:a="http://schemas.openxmlformats.org/drawingml/2006/main" w="0">
            <a:solidFill>
              <a:srgbClr val="32C5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DC3BE9-A506-477D-9F8C-82CB2C23B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2925"/>
            <a:ext cx="9906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Install the approved VSIX and start reviewing in minutes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5E1200-961C-4328-8FBB-B8D43DFC8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000125"/>
            <a:ext cx="942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E4F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7E4F2"/>
                </a:solidFill>
                <a:latin typeface="Aptos"/>
                <a:ea typeface="Aptos"/>
                <a:cs typeface="Aptos"/>
              </a:rPr>
              <a:t>No Azure sign-in is required for offline static scanning; Terraform is only needed for module and plan workflows.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164D23-7B60-4B0D-B9C3-7FDDB782C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FA9C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FA9C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E34908-13CD-48CB-953C-98377943D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2362200" cy="238125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10263D"/>
          </a:solidFill>
          <a:ln xmlns:a="http://schemas.openxmlformats.org/drawingml/2006/main" w="9525">
            <a:solidFill>
              <a:srgbClr val="31506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D404DA-F2CF-42D2-B4C9-485CF7E22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907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1D33"/>
          </a:solidFill>
          <a:ln xmlns:a="http://schemas.openxmlformats.org/drawingml/2006/main" w="9525">
            <a:solidFill>
              <a:srgbClr val="32C5FF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b80c607dde45fe">
            <a:extLst>
              <a:ext uri="{96DAC541-7B7A-43D3-8B79-37D633B846F1}">
                <asvg:svgBlip xmlns:asvg="http://schemas.microsoft.com/office/drawing/2016/SVG/main" r:embed="Re3a454a238614e3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00125" y="2295525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A45589-1F5F-4266-B9E2-001DE190E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219325"/>
            <a:ext cx="381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32C5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2C5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F0736E-3189-4CE6-909A-A7C437DAB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95600"/>
            <a:ext cx="1943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Get the release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66F74F-CD62-4BEF-AC00-94F40E071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52800"/>
            <a:ext cx="19431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7E4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7E4F2"/>
                </a:solidFill>
                <a:latin typeface="Aptos"/>
                <a:ea typeface="Aptos"/>
                <a:cs typeface="Aptos"/>
              </a:rPr>
              <a:t>Download the approved</a:t>
            </a:r>
          </a:p>
          <a:p xmlns:a="http://schemas.openxmlformats.org/drawingml/2006/main">
            <a:pPr algn="l">
              <a:defRPr sz="1050" b="0">
                <a:solidFill>
                  <a:srgbClr val="D7E4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7E4F2"/>
                </a:solidFill>
                <a:latin typeface="Aptos"/>
                <a:ea typeface="Aptos"/>
                <a:cs typeface="Aptos"/>
              </a:rPr>
              <a:t>azure-iac-guardrail-&lt;version&gt;.vsix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0224A1-4A66-4FEF-86E3-59CBC1112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62150"/>
            <a:ext cx="2362200" cy="238125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10263D"/>
          </a:solidFill>
          <a:ln xmlns:a="http://schemas.openxmlformats.org/drawingml/2006/main" w="9525">
            <a:solidFill>
              <a:srgbClr val="31506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8399CD-A3A7-4351-94B5-F5864C8EC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1D33"/>
          </a:solidFill>
          <a:ln xmlns:a="http://schemas.openxmlformats.org/drawingml/2006/main" w="9525">
            <a:solidFill>
              <a:srgbClr val="1683FF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dda235c0e946ce">
            <a:extLst>
              <a:ext uri="{96DAC541-7B7A-43D3-8B79-37D633B846F1}">
                <asvg:svgBlip xmlns:asvg="http://schemas.microsoft.com/office/drawing/2016/SVG/main" r:embed="R3816e4c5fb32470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743325" y="2295525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DE06D4-52FB-4AD1-9C1E-A94BE4D9F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219325"/>
            <a:ext cx="381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683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83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11640F-766C-499D-837C-0717EE314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1943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Install in VS Code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49134A-E192-4C79-994B-76A13D428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352800"/>
            <a:ext cx="19431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7E4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7E4F2"/>
                </a:solidFill>
                <a:latin typeface="Aptos"/>
                <a:ea typeface="Aptos"/>
                <a:cs typeface="Aptos"/>
              </a:rPr>
              <a:t>Extensions &gt; Views and More Actions (...)</a:t>
            </a:r>
          </a:p>
          <a:p xmlns:a="http://schemas.openxmlformats.org/drawingml/2006/main">
            <a:pPr algn="l">
              <a:defRPr sz="1050" b="0">
                <a:solidFill>
                  <a:srgbClr val="D7E4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7E4F2"/>
                </a:solidFill>
                <a:latin typeface="Aptos"/>
                <a:ea typeface="Aptos"/>
                <a:cs typeface="Aptos"/>
              </a:rPr>
              <a:t>&gt; Install from VSIX...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A3B68E-B9F3-4D18-B18A-7C5CF14D2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62150"/>
            <a:ext cx="2362200" cy="238125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10263D"/>
          </a:solidFill>
          <a:ln xmlns:a="http://schemas.openxmlformats.org/drawingml/2006/main" w="9525">
            <a:solidFill>
              <a:srgbClr val="31506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E37980-9381-438A-AC07-49335733D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907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1D33"/>
          </a:solidFill>
          <a:ln xmlns:a="http://schemas.openxmlformats.org/drawingml/2006/main" w="9525">
            <a:solidFill>
              <a:srgbClr val="FFB547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b43104319e44d2">
            <a:extLst>
              <a:ext uri="{96DAC541-7B7A-43D3-8B79-37D633B846F1}">
                <asvg:svgBlip xmlns:asvg="http://schemas.microsoft.com/office/drawing/2016/SVG/main" r:embed="R235c46bb94e948a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486525" y="2295525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617B40-FCD0-4B4F-AA2C-FB6E72079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19325"/>
            <a:ext cx="381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FB54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B547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E40D64-608D-41DB-9825-A506245E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95600"/>
            <a:ext cx="1943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Reload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FBBB03-463A-4851-B685-FD52ADE11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52800"/>
            <a:ext cx="19431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7E4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7E4F2"/>
                </a:solidFill>
                <a:latin typeface="Aptos"/>
                <a:ea typeface="Aptos"/>
                <a:cs typeface="Aptos"/>
              </a:rPr>
              <a:t>Reload VS Code when prompted and open your Terraform root module.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E65C97-733D-4A60-9B70-165E8A840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962150"/>
            <a:ext cx="2362200" cy="238125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10263D"/>
          </a:solidFill>
          <a:ln xmlns:a="http://schemas.openxmlformats.org/drawingml/2006/main" w="9525">
            <a:solidFill>
              <a:srgbClr val="31506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C5076A-88B0-4103-AA1B-1244097D9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907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1D33"/>
          </a:solidFill>
          <a:ln xmlns:a="http://schemas.openxmlformats.org/drawingml/2006/main" w="9525">
            <a:solidFill>
              <a:srgbClr val="2CCB8C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c23a324c6943dc">
            <a:extLst>
              <a:ext uri="{96DAC541-7B7A-43D3-8B79-37D633B846F1}">
                <asvg:svgBlip xmlns:asvg="http://schemas.microsoft.com/office/drawing/2016/SVG/main" r:embed="R31cbfdc68ad041e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229725" y="2295525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BBC3D0-17D0-4564-865E-8B3DBC0D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219325"/>
            <a:ext cx="381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CCB8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CCB8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D0E81D-2072-4953-A80C-E9B67CF15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95600"/>
            <a:ext cx="1943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Open Guardrail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B326AD-0888-4E99-B9CF-D352EA561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352800"/>
            <a:ext cx="19431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7E4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7E4F2"/>
                </a:solidFill>
                <a:latin typeface="Aptos"/>
                <a:ea typeface="Aptos"/>
                <a:cs typeface="Aptos"/>
              </a:rPr>
              <a:t>Press Ctrl+Shift+P and run</a:t>
            </a:r>
          </a:p>
          <a:p xmlns:a="http://schemas.openxmlformats.org/drawingml/2006/main">
            <a:pPr algn="l">
              <a:defRPr sz="1050" b="0">
                <a:solidFill>
                  <a:srgbClr val="D7E4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7E4F2"/>
                </a:solidFill>
                <a:latin typeface="Aptos"/>
                <a:ea typeface="Aptos"/>
                <a:cs typeface="Aptos"/>
              </a:rPr>
              <a:t>Azure IaC Guardrail commands.</a:t>
            </a:r>
          </a:p>
        </p:txBody>
      </p:sp>
      <p:cxnSp>
        <p:nvCxnSpPr>
          <p:cNvPr id="31" name=""/>
          <p:cNvCxnSpPr>
            <a:stCxn xmlns:a="http://schemas.openxmlformats.org/drawingml/2006/main" id="7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048000" y="31527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2C5FF"/>
            </a:solidFill>
            <a:prstDash val="solid"/>
            <a:tailEnd type="arrow" w="med" len="med"/>
          </a:ln>
        </p:spPr>
      </p:cxnSp>
      <p:cxnSp>
        <p:nvCxnSpPr>
          <p:cNvPr id="32" name=""/>
          <p:cNvCxnSpPr>
            <a:stCxn xmlns:a="http://schemas.openxmlformats.org/drawingml/2006/main" id="13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5791200" y="31527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2C5FF"/>
            </a:solidFill>
            <a:prstDash val="solid"/>
            <a:tailEnd type="arrow" w="med" len="med"/>
          </a:ln>
        </p:spPr>
      </p:cxnSp>
      <p:cxnSp>
        <p:nvCxnSpPr>
          <p:cNvPr id="33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8534400" y="31527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2C5FF"/>
            </a:solidFill>
            <a:prstDash val="solid"/>
            <a:tailEnd type="arrow" w="med" len="me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164C467-DA75-4C57-A5D4-B7428276D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105918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81D33"/>
          </a:solidFill>
          <a:ln xmlns:a="http://schemas.openxmlformats.org/drawingml/2006/main" w="9525">
            <a:solidFill>
              <a:srgbClr val="31506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F5E95BF-395F-47B9-BFD7-FF90BA7ED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29175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2C5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2C5FF"/>
                </a:solidFill>
                <a:latin typeface="Aptos"/>
                <a:ea typeface="Aptos"/>
                <a:cs typeface="Aptos"/>
              </a:rPr>
              <a:t>TERMINAL OPTION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E171869-44E2-44A1-A998-CC805A2D3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24450"/>
            <a:ext cx="581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BFF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F7FBFF"/>
                </a:solidFill>
                <a:latin typeface="Aptos Mono"/>
                <a:ea typeface="Aptos Mono"/>
                <a:cs typeface="Aptos Mono"/>
              </a:rPr>
              <a:t>code --install-extension .\azure-iac-guardrail-&lt;version&gt;.vsix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330E0D3-2D58-4880-B019-84134D00F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914900"/>
            <a:ext cx="16954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683FF"/>
          </a:solidFill>
          <a:ln xmlns:a="http://schemas.openxmlformats.org/drawingml/2006/main" w="9525">
            <a:solidFill>
              <a:srgbClr val="1683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FCC232D-3FC0-4496-B5B4-EBCAA894D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953000"/>
            <a:ext cx="1504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VS CODE 1.100+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65092B3-7CA9-475C-96DF-12FB92847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914900"/>
            <a:ext cx="1809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B547"/>
          </a:solidFill>
          <a:ln xmlns:a="http://schemas.openxmlformats.org/drawingml/2006/main" w="9525">
            <a:solidFill>
              <a:srgbClr val="FFB54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292BD81-B524-4D8C-BBC4-553661A2D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TERRAFORM FOR PLANS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5E68E9B-D825-4CD3-9FB8-EC9DB3F3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314950"/>
            <a:ext cx="36766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8FA9C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FA9C2"/>
                </a:solidFill>
                <a:latin typeface="Aptos"/>
                <a:ea typeface="Aptos"/>
                <a:cs typeface="Aptos"/>
              </a:rPr>
              <a:t>Upgrade by installing the newer approved VSIX over the existing version.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2FBE8CC-9BC9-4E40-9679-0CE1809E9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8FA9C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8FA9C2"/>
                </a:solidFill>
                <a:latin typeface="Aptos"/>
                <a:ea typeface="Aptos"/>
                <a:cs typeface="Aptos"/>
              </a:rPr>
              <a:t>Installation: approved VSIX deployment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81C19D7-1494-40C6-90CE-5067FCDEB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6534150"/>
            <a:ext cx="18764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B54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B547"/>
                </a:solidFill>
                <a:latin typeface="Aptos"/>
                <a:ea typeface="Aptos"/>
                <a:cs typeface="Aptos"/>
              </a:rPr>
              <a:t>0.1.2  |  PUBLIC PREVIEW</a:t>
            </a:r>
          </a:p>
        </p:txBody>
      </p:sp>
    </p:spTree>
    <p:extLst>
      <p:ext uri="{BB962C8B-B14F-4D97-AF65-F5344CB8AC3E}">
        <p14:creationId xmlns:p14="http://schemas.microsoft.com/office/powerpoint/2010/main" val="12156879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8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4c88a1da674ef9"/>
          <a:stretch xmlns:a="http://schemas.openxmlformats.org/drawingml/2006/main"/>
        </p:blipFill>
        <p:spPr>
          <a:xfrm xmlns:a="http://schemas.openxmlformats.org/drawingml/2006/main">
            <a:off x="457200" y="304800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79AB294-A8B8-4511-BB63-ECAF4961E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385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2C5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2C5FF"/>
                </a:solidFill>
                <a:latin typeface="Aptos"/>
                <a:ea typeface="Aptos"/>
                <a:cs typeface="Aptos"/>
              </a:rPr>
              <a:t>AZURE IaC GUARDRAIL  |  PRE-CONFIGURATION</a:t>
            </a:r>
          </a:p>
        </p:txBody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F5F141B-4DE0-4839-9A18-5C2FA1B3F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528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C5FF"/>
          </a:solidFill>
          <a:ln xmlns:a="http://schemas.openxmlformats.org/drawingml/2006/main" w="0">
            <a:solidFill>
              <a:srgbClr val="32C5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DAC5A5-661E-4287-8859-94DE5AE7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2925"/>
            <a:ext cx="9906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Encode team policy before the first finding appears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5A3407-C796-465A-A4CC-D6C4D4E38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000125"/>
            <a:ext cx="942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E4F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7E4F2"/>
                </a:solidFill>
                <a:latin typeface="Aptos"/>
                <a:ea typeface="Aptos"/>
                <a:cs typeface="Aptos"/>
              </a:rPr>
              <a:t>A workspace profile makes region, tagging, exception, and Terraform-root decisions explicit and reviewable.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931D75-E06B-4B78-B2C6-69342892E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FA9C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FA9C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8B1234-3B61-471F-BAA3-CE40AC542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09750"/>
            <a:ext cx="3238500" cy="38100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081D33"/>
          </a:solidFill>
          <a:ln xmlns:a="http://schemas.openxmlformats.org/drawingml/2006/main" w="19050">
            <a:solidFill>
              <a:srgbClr val="32C5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477142-4304-4CDB-B63B-F1BDBCF9B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0383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1D33"/>
          </a:solidFill>
          <a:ln xmlns:a="http://schemas.openxmlformats.org/drawingml/2006/main" w="9525">
            <a:solidFill>
              <a:srgbClr val="32C5FF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02d2baf96e4297">
            <a:extLst>
              <a:ext uri="{96DAC541-7B7A-43D3-8B79-37D633B846F1}">
                <asvg:svgBlip xmlns:asvg="http://schemas.microsoft.com/office/drawing/2016/SVG/main" r:embed="R0f1c8c72bf994f9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800600" y="214312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8EFFA5-6F79-438C-958C-85B9D2E2E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057400"/>
            <a:ext cx="209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BFF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F7FBFF"/>
                </a:solidFill>
                <a:latin typeface="Aptos Mono"/>
                <a:ea typeface="Aptos Mono"/>
                <a:cs typeface="Aptos Mono"/>
              </a:rPr>
              <a:t>.azure-iac-guardrail/profile.json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0EEB1F-2735-4CE9-A61E-62EC7FE01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2415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CCB8C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2CCB8C"/>
                </a:solidFill>
                <a:latin typeface="Aptos Mono"/>
                <a:ea typeface="Aptos Mono"/>
                <a:cs typeface="Aptos Mono"/>
              </a:rPr>
              <a:t>"terraformRoot": "./infra"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F6F7AD-9E2F-429F-91C3-69DAFF840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90875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7E4F2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D7E4F2"/>
                </a:solidFill>
                <a:latin typeface="Aptos Mono"/>
                <a:ea typeface="Aptos Mono"/>
                <a:cs typeface="Aptos Mono"/>
              </a:rPr>
              <a:t>"approvedRegions": ["uksouth"]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AD6C31-B031-47AA-87B8-E8BB398CD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5760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7E4F2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D7E4F2"/>
                </a:solidFill>
                <a:latin typeface="Aptos Mono"/>
                <a:ea typeface="Aptos Mono"/>
                <a:cs typeface="Aptos Mono"/>
              </a:rPr>
              <a:t>"requiredTags": { ... }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4EDF2E-0B9E-4196-AF29-EBA84AF56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124325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7E4F2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D7E4F2"/>
                </a:solidFill>
                <a:latin typeface="Aptos Mono"/>
                <a:ea typeface="Aptos Mono"/>
                <a:cs typeface="Aptos Mono"/>
              </a:rPr>
              <a:t>"exceptions": [{ expiry, owner, ticket }]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AD5288-B319-4FF5-A33A-0B348935D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59105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7E4F2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D7E4F2"/>
                </a:solidFill>
                <a:latin typeface="Aptos Mono"/>
                <a:ea typeface="Aptos Mono"/>
                <a:cs typeface="Aptos Mono"/>
              </a:rPr>
              <a:t>"skippedControlIds": []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EEBD45-86A8-4875-8BEC-6335B8436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991100"/>
            <a:ext cx="2667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81D33"/>
          </a:solidFill>
          <a:ln xmlns:a="http://schemas.openxmlformats.org/drawingml/2006/main" w="9525">
            <a:solidFill>
              <a:srgbClr val="31506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20E5E8-3042-4602-8CAE-A4195B905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057775"/>
            <a:ext cx="2400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2C5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32C5FF"/>
                </a:solidFill>
                <a:latin typeface="Aptos Mono"/>
                <a:ea typeface="Aptos Mono"/>
                <a:cs typeface="Aptos Mono"/>
              </a:rPr>
              <a:t>Azure Pre-configuration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890D33-6EA0-4F0C-885D-7FA0CBAF3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1D33"/>
          </a:solidFill>
          <a:ln xmlns:a="http://schemas.openxmlformats.org/drawingml/2006/main" w="9525">
            <a:solidFill>
              <a:srgbClr val="32C5FF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1797a3acc74a75">
            <a:extLst>
              <a:ext uri="{96DAC541-7B7A-43D3-8B79-37D633B846F1}">
                <asvg:svgBlip xmlns:asvg="http://schemas.microsoft.com/office/drawing/2016/SVG/main" r:embed="R00e45617bf69434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66775" y="20859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0096FF-2615-40B2-BA5C-D8D858614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812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Terraform root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6F9A24-A20C-4499-A59D-46EE0B982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343150"/>
            <a:ext cx="238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7E4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7E4F2"/>
                </a:solidFill>
                <a:latin typeface="Aptos"/>
                <a:ea typeface="Aptos"/>
                <a:cs typeface="Aptos"/>
              </a:rPr>
              <a:t>Choose the root module inside the workspace.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C75DFB-D1E8-4C1B-8639-2C4100186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909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1D33"/>
          </a:solidFill>
          <a:ln xmlns:a="http://schemas.openxmlformats.org/drawingml/2006/main" w="9525">
            <a:solidFill>
              <a:srgbClr val="1683FF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b42009fe974c0f">
            <a:extLst>
              <a:ext uri="{96DAC541-7B7A-43D3-8B79-37D633B846F1}">
                <asvg:svgBlip xmlns:asvg="http://schemas.microsoft.com/office/drawing/2016/SVG/main" r:embed="R900cd8904c9545e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66775" y="34956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54BDFA-98CD-40BD-908C-47DC9BD3D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3909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Approved regions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7C6AA7-E441-4864-B5DB-A0F11F626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752850"/>
            <a:ext cx="238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7E4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7E4F2"/>
                </a:solidFill>
                <a:latin typeface="Aptos"/>
                <a:ea typeface="Aptos"/>
                <a:cs typeface="Aptos"/>
              </a:rPr>
              <a:t>Apply shared location policy consistently.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43328B-6214-44AE-8D98-1B2CC6054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812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1D33"/>
          </a:solidFill>
          <a:ln xmlns:a="http://schemas.openxmlformats.org/drawingml/2006/main" w="9525">
            <a:solidFill>
              <a:srgbClr val="2CCB8C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299bbe566c4632">
            <a:extLst>
              <a:ext uri="{96DAC541-7B7A-43D3-8B79-37D633B846F1}">
                <asvg:svgBlip xmlns:asvg="http://schemas.microsoft.com/office/drawing/2016/SVG/main" r:embed="R13e1df758e5243c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53425" y="20859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04D27D-0AD0-4F55-ABC2-3B4121607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19812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Required tags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FE3723-BFC6-4A37-BF5C-6F36818AB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3431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7E4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7E4F2"/>
                </a:solidFill>
                <a:latin typeface="Aptos"/>
                <a:ea typeface="Aptos"/>
                <a:cs typeface="Aptos"/>
              </a:rPr>
              <a:t>Define mandatory keys and exact values.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B9ADF1-E210-48BF-9AEA-C628529B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909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1D33"/>
          </a:solidFill>
          <a:ln xmlns:a="http://schemas.openxmlformats.org/drawingml/2006/main" w="9525">
            <a:solidFill>
              <a:srgbClr val="FFB547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297aae14054075">
            <a:extLst>
              <a:ext uri="{96DAC541-7B7A-43D3-8B79-37D633B846F1}">
                <asvg:svgBlip xmlns:asvg="http://schemas.microsoft.com/office/drawing/2016/SVG/main" r:embed="Re5bf3a79ba584c5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53425" y="34956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20C0F3-4B49-467A-A662-D69022B37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3909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Governed exceptions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B27F5D3-FC30-4259-8BD9-3880C3A34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7528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7E4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7E4F2"/>
                </a:solidFill>
                <a:latin typeface="Aptos"/>
                <a:ea typeface="Aptos"/>
                <a:cs typeface="Aptos"/>
              </a:rPr>
              <a:t>Require owner, reason, expiry, and ticket.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BCAE6C9-BD3C-42DD-985C-FC673D488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05400"/>
            <a:ext cx="300037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0263D"/>
          </a:solidFill>
          <a:ln xmlns:a="http://schemas.openxmlformats.org/drawingml/2006/main" w="9525">
            <a:solidFill>
              <a:srgbClr val="31506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970100C-EDEE-425B-900D-29ED4989C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149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CB8C"/>
          </a:solidFill>
          <a:ln xmlns:a="http://schemas.openxmlformats.org/drawingml/2006/main" w="0">
            <a:solidFill>
              <a:srgbClr val="2CCB8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B484352-2535-41AE-AC01-661ABA8AD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38750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4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7E4F2"/>
                </a:solidFill>
                <a:latin typeface="Aptos"/>
                <a:ea typeface="Aptos"/>
                <a:cs typeface="Aptos"/>
              </a:rPr>
              <a:t>Commit shared policy; keep secrets out.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4D5E5DE-2B19-4F85-B89D-32F337D1D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105400"/>
            <a:ext cx="30956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0263D"/>
          </a:solidFill>
          <a:ln xmlns:a="http://schemas.openxmlformats.org/drawingml/2006/main" w="9525">
            <a:solidFill>
              <a:srgbClr val="31506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3FD7786-9398-44CB-9042-F7303879E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3149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547"/>
          </a:solidFill>
          <a:ln xmlns:a="http://schemas.openxmlformats.org/drawingml/2006/main" w="0">
            <a:solidFill>
              <a:srgbClr val="FFB54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1BFBD61-D82C-41EA-8ADC-BEE7E33F4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23875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4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7E4F2"/>
                </a:solidFill>
                <a:latin typeface="Aptos"/>
                <a:ea typeface="Aptos"/>
                <a:cs typeface="Aptos"/>
              </a:rPr>
              <a:t>Expired exceptions should fail review.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534133D-7361-45ED-8949-C65A81653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8FA9C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8FA9C2"/>
                </a:solidFill>
                <a:latin typeface="Aptos"/>
                <a:ea typeface="Aptos"/>
                <a:cs typeface="Aptos"/>
              </a:rPr>
              <a:t>Usage scenario: workspace governance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B6868A8-84BE-49A4-98F7-8DE842718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6534150"/>
            <a:ext cx="18764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B54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B547"/>
                </a:solidFill>
                <a:latin typeface="Aptos"/>
                <a:ea typeface="Aptos"/>
                <a:cs typeface="Aptos"/>
              </a:rPr>
              <a:t>0.1.2  |  PUBLIC PREVIEW</a:t>
            </a:r>
          </a:p>
        </p:txBody>
      </p:sp>
    </p:spTree>
    <p:extLst>
      <p:ext uri="{BB962C8B-B14F-4D97-AF65-F5344CB8AC3E}">
        <p14:creationId xmlns:p14="http://schemas.microsoft.com/office/powerpoint/2010/main" val="875834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8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4f5ae5461a4cc6"/>
          <a:stretch xmlns:a="http://schemas.openxmlformats.org/drawingml/2006/main"/>
        </p:blipFill>
        <p:spPr>
          <a:xfrm xmlns:a="http://schemas.openxmlformats.org/drawingml/2006/main">
            <a:off x="457200" y="304800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751ADC5-1FA1-43B9-B3E5-161731738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385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2C5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2C5FF"/>
                </a:solidFill>
                <a:latin typeface="Aptos"/>
                <a:ea typeface="Aptos"/>
                <a:cs typeface="Aptos"/>
              </a:rPr>
              <a:t>AZURE IaC GUARDRAIL  |  STATIC SCAN</a:t>
            </a:r>
          </a:p>
        </p:txBody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684E28D-6935-4855-90D7-4CDCF55C6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528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C5FF"/>
          </a:solidFill>
          <a:ln xmlns:a="http://schemas.openxmlformats.org/drawingml/2006/main" w="0">
            <a:solidFill>
              <a:srgbClr val="32C5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A25BD0-C854-4367-9505-7D50CF4E3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2925"/>
            <a:ext cx="9906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Get actionable Terraform feedback without executing Terraform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26A8EC-B64C-4113-AED9-ABC4C57E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000125"/>
            <a:ext cx="942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E4F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7E4F2"/>
                </a:solidFill>
                <a:latin typeface="Aptos"/>
                <a:ea typeface="Aptos"/>
                <a:cs typeface="Aptos"/>
              </a:rPr>
              <a:t>Static scanning stays offline and traces supported values back to source and tfvars provenance.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8B67D0-A123-4064-A1C3-24FFB77FE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FA9C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FA9C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A13084-274C-4A3A-8B99-3D0829C5E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2476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0263D"/>
          </a:solidFill>
          <a:ln xmlns:a="http://schemas.openxmlformats.org/drawingml/2006/main" w="9525">
            <a:solidFill>
              <a:srgbClr val="31506C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e9d6e271384630">
            <a:extLst>
              <a:ext uri="{96DAC541-7B7A-43D3-8B79-37D633B846F1}">
                <asvg:svgBlip xmlns:asvg="http://schemas.microsoft.com/office/drawing/2016/SVG/main" r:embed="Rd7a2b48dd169484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57250" y="2171700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5DEA93-D621-4D54-9257-3CCFE2D7F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24075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.tf resources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ED3D0A-952F-44A6-BCD6-01BEE0931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2476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0263D"/>
          </a:solidFill>
          <a:ln xmlns:a="http://schemas.openxmlformats.org/drawingml/2006/main" w="9525">
            <a:solidFill>
              <a:srgbClr val="31506C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35069dd6dd4956">
            <a:extLst>
              <a:ext uri="{96DAC541-7B7A-43D3-8B79-37D633B846F1}">
                <asvg:svgBlip xmlns:asvg="http://schemas.microsoft.com/office/drawing/2016/SVG/main" r:embed="R5f0c486a75334d8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57250" y="2952750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E67022-053E-4181-BBAC-FE5766899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05125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defaults + tfvars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07E424-B6D6-4D47-910C-E8E0DFBEC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2476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0263D"/>
          </a:solidFill>
          <a:ln xmlns:a="http://schemas.openxmlformats.org/drawingml/2006/main" w="9525">
            <a:solidFill>
              <a:srgbClr val="31506C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891ce1d2174ec2">
            <a:extLst>
              <a:ext uri="{96DAC541-7B7A-43D3-8B79-37D633B846F1}">
                <asvg:svgBlip xmlns:asvg="http://schemas.microsoft.com/office/drawing/2016/SVG/main" r:embed="R2264dbf5420f44b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57250" y="3733800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7CA6E8-6D82-40B2-9F65-4FABD2F79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86175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locals + conditionals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979315-0DB9-4F6E-B071-9B0B6E21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2476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0263D"/>
          </a:solidFill>
          <a:ln xmlns:a="http://schemas.openxmlformats.org/drawingml/2006/main" w="9525">
            <a:solidFill>
              <a:srgbClr val="31506C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0270bb02164108">
            <a:extLst>
              <a:ext uri="{96DAC541-7B7A-43D3-8B79-37D633B846F1}">
                <asvg:svgBlip xmlns:asvg="http://schemas.microsoft.com/office/drawing/2016/SVG/main" r:embed="R246fb3a992da458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57250" y="4514850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35985A-9407-4406-9F32-35AE2B308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67225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local / cached modules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5AF363-D445-4230-9724-7DCEC894C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57450"/>
            <a:ext cx="3238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081D33"/>
          </a:solidFill>
          <a:ln xmlns:a="http://schemas.openxmlformats.org/drawingml/2006/main" w="19050">
            <a:solidFill>
              <a:srgbClr val="1683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562444-A5C4-4B4E-9133-F9B42F40B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6860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1D33"/>
          </a:solidFill>
          <a:ln xmlns:a="http://schemas.openxmlformats.org/drawingml/2006/main" w="9525">
            <a:solidFill>
              <a:srgbClr val="1683FF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19769550434519">
            <a:extLst>
              <a:ext uri="{96DAC541-7B7A-43D3-8B79-37D633B846F1}">
                <asvg:svgBlip xmlns:asvg="http://schemas.microsoft.com/office/drawing/2016/SVG/main" r:embed="R36d1c7b0f55349a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33900" y="279082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FAF84D-1DD4-46BD-9ACB-3E05D58F1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733675"/>
            <a:ext cx="2047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Offline evaluation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976751-D232-4766-9C46-12C58536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305175"/>
            <a:ext cx="27622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81D33"/>
          </a:solidFill>
          <a:ln xmlns:a="http://schemas.openxmlformats.org/drawingml/2006/main" w="9525">
            <a:solidFill>
              <a:srgbClr val="31506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2C3808-31D7-4096-84AA-B1937CE00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371850"/>
            <a:ext cx="2495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3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683FF"/>
                </a:solidFill>
                <a:latin typeface="Aptos Mono"/>
                <a:ea typeface="Aptos Mono"/>
                <a:cs typeface="Aptos Mono"/>
              </a:rPr>
              <a:t>Scan Terraform Files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EC13DA-7B5F-4C46-995F-0E7E38CE8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943350"/>
            <a:ext cx="2762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7E4F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7E4F2"/>
                </a:solidFill>
                <a:latin typeface="Aptos"/>
                <a:ea typeface="Aptos"/>
                <a:cs typeface="Aptos"/>
              </a:rPr>
              <a:t>No provider calls. No remote state. No terraform plan.</a:t>
            </a:r>
          </a:p>
        </p:txBody>
      </p:sp>
      <p:cxnSp>
        <p:nvCxnSpPr>
          <p:cNvPr id="26" name=""/>
          <p:cNvCxnSpPr>
            <a:stCxn xmlns:a="http://schemas.openxmlformats.org/drawingml/2006/main" id="7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3162300" y="2295525"/>
            <a:ext cx="1028700" cy="12573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31506C"/>
            </a:solidFill>
            <a:prstDash val="solid"/>
            <a:tailEnd type="arrow" w="sm" len="sm"/>
          </a:ln>
        </p:spPr>
      </p:cxnSp>
      <p:cxnSp>
        <p:nvCxnSpPr>
          <p:cNvPr id="27" name=""/>
          <p:cNvCxnSpPr>
            <a:stCxn xmlns:a="http://schemas.openxmlformats.org/drawingml/2006/main" id="10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3162300" y="3076575"/>
            <a:ext cx="102870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31506C"/>
            </a:solidFill>
            <a:prstDash val="solid"/>
            <a:tailEnd type="arrow" w="sm" len="sm"/>
          </a:ln>
        </p:spPr>
      </p:cxnSp>
      <p:cxnSp>
        <p:nvCxnSpPr>
          <p:cNvPr id="28" name=""/>
          <p:cNvCxnSpPr>
            <a:stCxn xmlns:a="http://schemas.openxmlformats.org/drawingml/2006/main" id="13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V="1">
            <a:off x="3162300" y="3552825"/>
            <a:ext cx="102870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31506C"/>
            </a:solidFill>
            <a:prstDash val="solid"/>
            <a:tailEnd type="arrow" w="sm" len="sm"/>
          </a:ln>
        </p:spPr>
      </p:cxnSp>
      <p:cxnSp>
        <p:nvCxnSpPr>
          <p:cNvPr id="29" name=""/>
          <p:cNvCxnSpPr>
            <a:stCxn xmlns:a="http://schemas.openxmlformats.org/drawingml/2006/main" id="16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V="1">
            <a:off x="3162300" y="3552825"/>
            <a:ext cx="1028700" cy="10858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31506C"/>
            </a:solidFill>
            <a:prstDash val="solid"/>
            <a:tailEnd type="arrow" w="sm" len="sm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D26958-47E3-4DE6-9C1F-9CB409BD2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33600"/>
            <a:ext cx="2762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0263D"/>
          </a:solidFill>
          <a:ln xmlns:a="http://schemas.openxmlformats.org/drawingml/2006/main" w="9525">
            <a:solidFill>
              <a:srgbClr val="2CCB8C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c77599d1b3412b">
            <a:extLst>
              <a:ext uri="{96DAC541-7B7A-43D3-8B79-37D633B846F1}">
                <asvg:svgBlip xmlns:asvg="http://schemas.microsoft.com/office/drawing/2016/SVG/main" r:embed="R252f0b3b7bb6494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705850" y="237172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61F69E4-897B-4A9F-AE78-58DAB9810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305050"/>
            <a:ext cx="1857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Resolved findings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5549300-85DB-473A-A2B6-583E31D58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724150"/>
            <a:ext cx="2286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7E4F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7E4F2"/>
                </a:solidFill>
                <a:latin typeface="Aptos"/>
                <a:ea typeface="Aptos"/>
                <a:cs typeface="Aptos"/>
              </a:rPr>
              <a:t>Problems, results, provenance, and reviewed quick fixes.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92EA45C-9450-4DD6-AFD7-5E0464888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38550"/>
            <a:ext cx="2762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263D"/>
          </a:solidFill>
          <a:ln xmlns:a="http://schemas.openxmlformats.org/drawingml/2006/main" w="9525">
            <a:solidFill>
              <a:srgbClr val="FFB547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abba94a5d34512">
            <a:extLst>
              <a:ext uri="{96DAC541-7B7A-43D3-8B79-37D633B846F1}">
                <asvg:svgBlip xmlns:asvg="http://schemas.microsoft.com/office/drawing/2016/SVG/main" r:embed="R8d5f4bb4d8b5441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705850" y="38862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F54F06A-C68C-453E-989A-5E1F3DFD6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19525"/>
            <a:ext cx="1857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Plan required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B374478-DA42-4270-A879-3A070040F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238625"/>
            <a:ext cx="2286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7E4F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7E4F2"/>
                </a:solidFill>
                <a:latin typeface="Aptos"/>
                <a:ea typeface="Aptos"/>
                <a:cs typeface="Aptos"/>
              </a:rPr>
              <a:t>Provider functions, data sources, remote state, outputs, dynamic blocks, or computed instances.</a:t>
            </a:r>
          </a:p>
        </p:txBody>
      </p:sp>
      <p:cxnSp>
        <p:nvCxnSpPr>
          <p:cNvPr id="38" name=""/>
          <p:cNvCxnSpPr>
            <a:stCxn xmlns:a="http://schemas.openxmlformats.org/drawingml/2006/main" id="1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 flipV="1">
            <a:off x="7429500" y="2705100"/>
            <a:ext cx="1047750" cy="8477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CCB8C"/>
            </a:solidFill>
            <a:prstDash val="solid"/>
            <a:tailEnd type="arrow" w="med" len="med"/>
          </a:ln>
        </p:spPr>
      </p:cxnSp>
      <p:cxnSp>
        <p:nvCxnSpPr>
          <p:cNvPr id="39" name=""/>
          <p:cNvCxnSpPr>
            <a:stCxn xmlns:a="http://schemas.openxmlformats.org/drawingml/2006/main" id="19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7429500" y="3552825"/>
            <a:ext cx="1047750" cy="8001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B547"/>
            </a:solidFill>
            <a:prstDash val="solid"/>
            <a:tailEnd type="arrow" w="med" len="med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257870C-98F9-4E8A-B725-F416641BE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219700"/>
            <a:ext cx="3238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683FF"/>
          </a:solidFill>
          <a:ln xmlns:a="http://schemas.openxmlformats.org/drawingml/2006/main" w="9525">
            <a:solidFill>
              <a:srgbClr val="1683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0D37D0D-A7D4-4390-A4A7-52F2AC91B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25780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FASTEST AUTHORING FEEDBACK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60F3EDA-06BD-4F09-9FA1-A6078D0B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8FA9C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8FA9C2"/>
                </a:solidFill>
                <a:latin typeface="Aptos"/>
                <a:ea typeface="Aptos"/>
                <a:cs typeface="Aptos"/>
              </a:rPr>
              <a:t>Usage scenario: offline static analysis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647976C-0DD9-419A-BAAA-293CFE2D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6534150"/>
            <a:ext cx="18764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B54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B547"/>
                </a:solidFill>
                <a:latin typeface="Aptos"/>
                <a:ea typeface="Aptos"/>
                <a:cs typeface="Aptos"/>
              </a:rPr>
              <a:t>0.1.2  |  PUBLIC PREVIEW</a:t>
            </a:r>
          </a:p>
        </p:txBody>
      </p:sp>
    </p:spTree>
    <p:extLst>
      <p:ext uri="{BB962C8B-B14F-4D97-AF65-F5344CB8AC3E}">
        <p14:creationId xmlns:p14="http://schemas.microsoft.com/office/powerpoint/2010/main" val="8975958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8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ecc0da9c6b424f"/>
          <a:stretch xmlns:a="http://schemas.openxmlformats.org/drawingml/2006/main"/>
        </p:blipFill>
        <p:spPr>
          <a:xfrm xmlns:a="http://schemas.openxmlformats.org/drawingml/2006/main">
            <a:off x="457200" y="304800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10B4FBB-0039-46D6-8961-8FB054087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385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2C5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2C5FF"/>
                </a:solidFill>
                <a:latin typeface="Aptos"/>
                <a:ea typeface="Aptos"/>
                <a:cs typeface="Aptos"/>
              </a:rPr>
              <a:t>AZURE IaC GUARDRAIL  |  PLAN FILE SCAN</a:t>
            </a:r>
          </a:p>
        </p:txBody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4222747-1970-40F6-869D-733A58AA7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528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C5FF"/>
          </a:solidFill>
          <a:ln xmlns:a="http://schemas.openxmlformats.org/drawingml/2006/main" w="0">
            <a:solidFill>
              <a:srgbClr val="32C5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3983CC-43E7-4178-B211-831F35C8C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2925"/>
            <a:ext cx="9906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Bring a trusted plan file into resolved assurance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492ED3-C6D3-461C-AA60-3FE3CD1D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000125"/>
            <a:ext cx="942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E4F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7E4F2"/>
                </a:solidFill>
                <a:latin typeface="Aptos"/>
                <a:ea typeface="Aptos"/>
                <a:cs typeface="Aptos"/>
              </a:rPr>
              <a:t>Use an existing binary .tfplan or terraform show -json output produced by a trusted local or CI workflow.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2556C0-524D-4E08-9F88-DB591AE8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FA9C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FA9C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F4A150-A39F-47ED-894B-C6F838AD2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09800"/>
            <a:ext cx="2286000" cy="25717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0263D"/>
          </a:solidFill>
          <a:ln xmlns:a="http://schemas.openxmlformats.org/drawingml/2006/main" w="9525">
            <a:solidFill>
              <a:srgbClr val="32C5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E8703A-54E6-4A16-8FAF-D4B776ED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574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1D33"/>
          </a:solidFill>
          <a:ln xmlns:a="http://schemas.openxmlformats.org/drawingml/2006/main" w="9525">
            <a:solidFill>
              <a:srgbClr val="32C5FF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e64a9b60734669">
            <a:extLst>
              <a:ext uri="{96DAC541-7B7A-43D3-8B79-37D633B846F1}">
                <asvg:svgBlip xmlns:asvg="http://schemas.microsoft.com/office/drawing/2016/SVG/main" r:embed="R49d1bcd2fa83477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66775" y="2562225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C1A8B2-1E53-473D-B109-97FF48D87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Trusted workflow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15C8D9-9718-40F6-9104-0E9F34789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1866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7E4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7E4F2"/>
                </a:solidFill>
                <a:latin typeface="Aptos"/>
                <a:ea typeface="Aptos"/>
                <a:cs typeface="Aptos"/>
              </a:rPr>
              <a:t>Local engineering or CI creates the plan with intended credentials and tfvars.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77FEFF-0472-4810-A4F2-E85B3DFD3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09800"/>
            <a:ext cx="2286000" cy="25717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0263D"/>
          </a:solidFill>
          <a:ln xmlns:a="http://schemas.openxmlformats.org/drawingml/2006/main" w="9525">
            <a:solidFill>
              <a:srgbClr val="1683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E70CED-A669-40C5-BB08-70525DAFD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574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1D33"/>
          </a:solidFill>
          <a:ln xmlns:a="http://schemas.openxmlformats.org/drawingml/2006/main" w="9525">
            <a:solidFill>
              <a:srgbClr val="1683FF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f02a9dde4141a9">
            <a:extLst>
              <a:ext uri="{96DAC541-7B7A-43D3-8B79-37D633B846F1}">
                <asvg:svgBlip xmlns:asvg="http://schemas.microsoft.com/office/drawing/2016/SVG/main" r:embed="Rb92e3c909dd2427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648075" y="2562225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57F2B9-05D2-487E-AB26-0198FA464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14325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Plan artifact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1C7FE2-5A9B-4629-BB14-1FFA3AA1E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619500"/>
            <a:ext cx="1866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7E4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7E4F2"/>
                </a:solidFill>
                <a:latin typeface="Aptos"/>
                <a:ea typeface="Aptos"/>
                <a:cs typeface="Aptos"/>
              </a:rPr>
              <a:t>Select a binary .tfplan or a terraform show -json file.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BC5865-FD5F-492D-9838-6CC55149B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09800"/>
            <a:ext cx="2286000" cy="25717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0263D"/>
          </a:solidFill>
          <a:ln xmlns:a="http://schemas.openxmlformats.org/drawingml/2006/main" w="9525">
            <a:solidFill>
              <a:srgbClr val="FFB54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BCFAA5-0122-43D2-A5D1-153F035AC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574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1D33"/>
          </a:solidFill>
          <a:ln xmlns:a="http://schemas.openxmlformats.org/drawingml/2006/main" w="9525">
            <a:solidFill>
              <a:srgbClr val="FFB547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f08e59783b432a">
            <a:extLst>
              <a:ext uri="{96DAC541-7B7A-43D3-8B79-37D633B846F1}">
                <asvg:svgBlip xmlns:asvg="http://schemas.microsoft.com/office/drawing/2016/SVG/main" r:embed="R27caee68aa9d480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429375" y="2562225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904559-12DF-49C6-93B7-DE9D03AF7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4325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Guardrail scan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9B7BAF-1F36-4589-8DBF-8B75256A7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19500"/>
            <a:ext cx="1866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7E4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7E4F2"/>
                </a:solidFill>
                <a:latin typeface="Aptos"/>
                <a:ea typeface="Aptos"/>
                <a:cs typeface="Aptos"/>
              </a:rPr>
              <a:t>Evaluate resolved resources, relationships, actions, and plan-only controls.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332AF4-935B-4A00-BB0E-5BE062BA8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209800"/>
            <a:ext cx="27432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10263D"/>
          </a:solidFill>
          <a:ln xmlns:a="http://schemas.openxmlformats.org/drawingml/2006/main" w="9525">
            <a:solidFill>
              <a:srgbClr val="2CCB8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82ACD2-1E77-4950-8DE7-9AFF5071B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574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1D33"/>
          </a:solidFill>
          <a:ln xmlns:a="http://schemas.openxmlformats.org/drawingml/2006/main" w="9525">
            <a:solidFill>
              <a:srgbClr val="2CCB8C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b2b64c80ad46a9">
            <a:extLst>
              <a:ext uri="{96DAC541-7B7A-43D3-8B79-37D633B846F1}">
                <asvg:svgBlip xmlns:asvg="http://schemas.microsoft.com/office/drawing/2016/SVG/main" r:embed="R73062af73a9543f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210675" y="2562225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D7139F-276B-41EB-9AF2-B118886B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143250"/>
            <a:ext cx="2324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Review outcome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1428E8-71D7-46D3-9094-4207F0A5E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619500"/>
            <a:ext cx="2324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7E4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7E4F2"/>
                </a:solidFill>
                <a:latin typeface="Aptos"/>
                <a:ea typeface="Aptos"/>
                <a:cs typeface="Aptos"/>
              </a:rPr>
              <a:t>Inspect exposure, architecture risk, replacements, and connected blast radius.</a:t>
            </a:r>
          </a:p>
        </p:txBody>
      </p:sp>
      <p:cxnSp>
        <p:nvCxnSpPr>
          <p:cNvPr id="27" name=""/>
          <p:cNvCxnSpPr>
            <a:stCxn xmlns:a="http://schemas.openxmlformats.org/drawingml/2006/main" id="7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838450" y="3495675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2C5FF"/>
            </a:solidFill>
            <a:prstDash val="solid"/>
            <a:tailEnd type="arrow" w="med" len="med"/>
          </a:ln>
        </p:spPr>
      </p:cxnSp>
      <p:cxnSp>
        <p:nvCxnSpPr>
          <p:cNvPr id="28" name=""/>
          <p:cNvCxnSpPr>
            <a:stCxn xmlns:a="http://schemas.openxmlformats.org/drawingml/2006/main" id="12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5619750" y="3495675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B547"/>
            </a:solidFill>
            <a:prstDash val="solid"/>
            <a:tailEnd type="arrow" w="med" len="med"/>
          </a:ln>
        </p:spPr>
      </p:cxnSp>
      <p:cxnSp>
        <p:nvCxnSpPr>
          <p:cNvPr id="29" name=""/>
          <p:cNvCxnSpPr>
            <a:stCxn xmlns:a="http://schemas.openxmlformats.org/drawingml/2006/main" id="17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8401050" y="3495675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2C5FF"/>
            </a:solidFill>
            <a:prstDash val="solid"/>
            <a:tailEnd type="arrow" w="med" len="me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788C37-921E-4815-A10E-16E23288F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67300"/>
            <a:ext cx="50673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81D33"/>
          </a:solidFill>
          <a:ln xmlns:a="http://schemas.openxmlformats.org/drawingml/2006/main" w="9525">
            <a:solidFill>
              <a:srgbClr val="31506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907216-B7E0-4D0F-B542-E0DA1B0E0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133975"/>
            <a:ext cx="4800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B54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B547"/>
                </a:solidFill>
                <a:latin typeface="Aptos Mono"/>
                <a:ea typeface="Aptos Mono"/>
                <a:cs typeface="Aptos Mono"/>
              </a:rPr>
              <a:t>Scan Existing Terraform Plan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3DA115-1774-430C-9C7A-44F71FC40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2286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CCB8C"/>
          </a:solidFill>
          <a:ln xmlns:a="http://schemas.openxmlformats.org/drawingml/2006/main" w="9525">
            <a:solidFill>
              <a:srgbClr val="2CCB8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EBC458-7154-4874-B1AF-1C23F156D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816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NEVER RUNS TERRAFORM APPLY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67A315B-9C98-4751-A111-9711C4F0E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143500"/>
            <a:ext cx="2743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6B6B"/>
          </a:solidFill>
          <a:ln xmlns:a="http://schemas.openxmlformats.org/drawingml/2006/main" w="9525">
            <a:solidFill>
              <a:srgbClr val="FF6B6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0FD66CE-EA33-4A1A-B763-03E681C4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181600"/>
            <a:ext cx="2552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PLAN FILES MAY CONTAIN SENSITIVE DATA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A6A2899-E093-49C8-AC6C-04DA74162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772150"/>
            <a:ext cx="975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8FA9C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8FA9C2"/>
                </a:solidFill>
                <a:latin typeface="Aptos"/>
                <a:ea typeface="Aptos"/>
                <a:cs typeface="Aptos"/>
              </a:rPr>
              <a:t>For binary plans, Guardrail uses your local Terraform executable to convert the plan to JSON before evaluation.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1C14E5F-BDAA-48A0-9A8F-3207B29FF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8FA9C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8FA9C2"/>
                </a:solidFill>
                <a:latin typeface="Aptos"/>
                <a:ea typeface="Aptos"/>
                <a:cs typeface="Aptos"/>
              </a:rPr>
              <a:t>Usage scenario: scan an existing Terraform plan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EF89A23-94DF-4FFE-9543-D4E512A58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6534150"/>
            <a:ext cx="18764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B54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B547"/>
                </a:solidFill>
                <a:latin typeface="Aptos"/>
                <a:ea typeface="Aptos"/>
                <a:cs typeface="Aptos"/>
              </a:rPr>
              <a:t>0.1.2  |  PUBLIC PREVIEW</a:t>
            </a:r>
          </a:p>
        </p:txBody>
      </p:sp>
    </p:spTree>
    <p:extLst>
      <p:ext uri="{BB962C8B-B14F-4D97-AF65-F5344CB8AC3E}">
        <p14:creationId xmlns:p14="http://schemas.microsoft.com/office/powerpoint/2010/main" val="5307715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8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c003cd13554346"/>
          <a:stretch xmlns:a="http://schemas.openxmlformats.org/drawingml/2006/main"/>
        </p:blipFill>
        <p:spPr>
          <a:xfrm xmlns:a="http://schemas.openxmlformats.org/drawingml/2006/main">
            <a:off x="457200" y="304800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A7EBC53-A680-4E8C-A795-5B6E00F4F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385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2C5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2C5FF"/>
                </a:solidFill>
                <a:latin typeface="Aptos"/>
                <a:ea typeface="Aptos"/>
                <a:cs typeface="Aptos"/>
              </a:rPr>
              <a:t>AZURE IaC GUARDRAIL  |  PLAN ARCHITECTURE</a:t>
            </a:r>
          </a:p>
        </p:txBody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3629536-1700-4B33-96D1-1252A725A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528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C5FF"/>
          </a:solidFill>
          <a:ln xmlns:a="http://schemas.openxmlformats.org/drawingml/2006/main" w="0">
            <a:solidFill>
              <a:srgbClr val="32C5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1D6690-AE8A-4867-85A4-1DA3F226F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2925"/>
            <a:ext cx="9906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Turn a resolved plan into a dependency-aware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AAB20E-E10D-46EC-8CE8-397D2D3A9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000125"/>
            <a:ext cx="942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E4F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7E4F2"/>
                </a:solidFill>
                <a:latin typeface="Aptos"/>
                <a:ea typeface="Aptos"/>
                <a:cs typeface="Aptos"/>
              </a:rPr>
              <a:t>Search, filter, and trace connected change impact without exposing resolved attribute values in the diagram.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5B128C-331A-42BF-98BE-B72B4CFE3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FA9C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FA9C2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F85D00-A56C-4CE9-B0AD-5558125B8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7810500" cy="4286250"/>
          </a:xfrm>
          <a:prstGeom xmlns:a="http://schemas.openxmlformats.org/drawingml/2006/main" prst="roundRect">
            <a:avLst>
              <a:gd name="adj" fmla="val 1778"/>
            </a:avLst>
          </a:prstGeom>
          <a:solidFill xmlns:a="http://schemas.openxmlformats.org/drawingml/2006/main">
            <a:srgbClr val="081D33"/>
          </a:solidFill>
          <a:ln xmlns:a="http://schemas.openxmlformats.org/drawingml/2006/main" w="9525">
            <a:solidFill>
              <a:srgbClr val="31506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65D025-100B-4FC2-B30C-D4DDEBD54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76425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2C5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2C5FF"/>
                </a:solidFill>
                <a:latin typeface="Aptos"/>
                <a:ea typeface="Aptos"/>
                <a:cs typeface="Aptos"/>
              </a:rPr>
              <a:t>DEPENDENCY CANVAS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4CC929-AB4C-4E62-8DA7-73A5F316F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47850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CCB8C"/>
          </a:solidFill>
          <a:ln xmlns:a="http://schemas.openxmlformats.org/drawingml/2006/main" w="9525">
            <a:solidFill>
              <a:srgbClr val="2CCB8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8C3116-0CFD-4C9A-90BB-70B85C53A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8859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CREATE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506178-5462-4D5F-BDB6-67B52E82F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47850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683FF"/>
          </a:solidFill>
          <a:ln xmlns:a="http://schemas.openxmlformats.org/drawingml/2006/main" w="9525">
            <a:solidFill>
              <a:srgbClr val="1683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F5413B-3420-4B21-A8AB-4829B79E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859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UPDATE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B6481C-8869-46DC-BB90-6C280F304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847850"/>
            <a:ext cx="9334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B547"/>
          </a:solidFill>
          <a:ln xmlns:a="http://schemas.openxmlformats.org/drawingml/2006/main" w="9525">
            <a:solidFill>
              <a:srgbClr val="FFB54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1A6B24-80A6-4323-9BB3-0CFB9A0FD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885950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REPLACE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ADDFCB-32C1-4ADA-8FD9-562049D5A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05100"/>
            <a:ext cx="16573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63D"/>
          </a:solidFill>
          <a:ln xmlns:a="http://schemas.openxmlformats.org/drawingml/2006/main" w="14288">
            <a:solidFill>
              <a:srgbClr val="32C5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BB6B60-5E4F-4AFC-8EA1-8B9B7DA71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28925"/>
            <a:ext cx="142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7FB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7FBFF"/>
                </a:solidFill>
                <a:latin typeface="Aptos Mono"/>
                <a:ea typeface="Aptos Mono"/>
                <a:cs typeface="Aptos Mono"/>
              </a:rPr>
              <a:t>azurerm_resource_group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DF11B6-8163-477B-81D6-665D2FC44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76500"/>
            <a:ext cx="16764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63D"/>
          </a:solidFill>
          <a:ln xmlns:a="http://schemas.openxmlformats.org/drawingml/2006/main" w="14288">
            <a:solidFill>
              <a:srgbClr val="1683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D94CFF-E243-472C-83F9-3AC2AEAF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600325"/>
            <a:ext cx="1447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7FB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7FBFF"/>
                </a:solidFill>
                <a:latin typeface="Aptos Mono"/>
                <a:ea typeface="Aptos Mono"/>
                <a:cs typeface="Aptos Mono"/>
              </a:rPr>
              <a:t>azurerm_virtual_network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46ACD6-FFB7-479B-BEAF-8845C410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48100"/>
            <a:ext cx="16764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63D"/>
          </a:solidFill>
          <a:ln xmlns:a="http://schemas.openxmlformats.org/drawingml/2006/main" w="14288">
            <a:solidFill>
              <a:srgbClr val="FFB54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745173-AA06-4042-A41A-B278B811C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971925"/>
            <a:ext cx="1447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7FB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7FBFF"/>
                </a:solidFill>
                <a:latin typeface="Aptos Mono"/>
                <a:ea typeface="Aptos Mono"/>
                <a:cs typeface="Aptos Mono"/>
              </a:rPr>
              <a:t>azurerm_storage_account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97B381-B6AA-4BD3-B4CC-6BC4FA47E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724150"/>
            <a:ext cx="1809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63D"/>
          </a:solidFill>
          <a:ln xmlns:a="http://schemas.openxmlformats.org/drawingml/2006/main" w="14288">
            <a:solidFill>
              <a:srgbClr val="2CCB8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697401-19F1-4FAA-9215-08C6270C7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847975"/>
            <a:ext cx="1581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7FB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7FBFF"/>
                </a:solidFill>
                <a:latin typeface="Aptos Mono"/>
                <a:ea typeface="Aptos Mono"/>
                <a:cs typeface="Aptos Mono"/>
              </a:rPr>
              <a:t>azurerm_linux_web_app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CD5241-5874-489D-AFA8-4D05BC1B2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267200"/>
            <a:ext cx="1809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63D"/>
          </a:solidFill>
          <a:ln xmlns:a="http://schemas.openxmlformats.org/drawingml/2006/main" w="14288">
            <a:solidFill>
              <a:srgbClr val="32C5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3FC7E5-22A3-4B38-A63B-43E96F02D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391025"/>
            <a:ext cx="1581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7FB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7FBFF"/>
                </a:solidFill>
                <a:latin typeface="Aptos Mono"/>
                <a:ea typeface="Aptos Mono"/>
                <a:cs typeface="Aptos Mono"/>
              </a:rPr>
              <a:t>azurerm_private_endpoint</a:t>
            </a:r>
          </a:p>
        </p:txBody>
      </p:sp>
      <p:cxnSp>
        <p:nvCxnSpPr>
          <p:cNvPr id="25" name=""/>
          <p:cNvCxnSpPr>
            <a:stCxn xmlns:a="http://schemas.openxmlformats.org/drawingml/2006/main" id="15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2514600" y="2819400"/>
            <a:ext cx="628650" cy="2286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31506C"/>
            </a:solidFill>
            <a:prstDash val="solid"/>
            <a:tailEnd type="arrow" w="sm" len="sm"/>
          </a:ln>
        </p:spPr>
      </p:cxnSp>
      <p:cxnSp>
        <p:nvCxnSpPr>
          <p:cNvPr id="26" name=""/>
          <p:cNvCxnSpPr>
            <a:stCxn xmlns:a="http://schemas.openxmlformats.org/drawingml/2006/main" id="15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2514600" y="3048000"/>
            <a:ext cx="628650" cy="11430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31506C"/>
            </a:solidFill>
            <a:prstDash val="solid"/>
            <a:tailEnd type="arrow" w="sm" len="sm"/>
          </a:ln>
        </p:spPr>
      </p:cxnSp>
      <p:cxnSp>
        <p:nvCxnSpPr>
          <p:cNvPr id="27" name=""/>
          <p:cNvCxnSpPr>
            <a:stCxn xmlns:a="http://schemas.openxmlformats.org/drawingml/2006/main" id="17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4819650" y="2819400"/>
            <a:ext cx="800100" cy="2476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31506C"/>
            </a:solidFill>
            <a:prstDash val="solid"/>
            <a:tailEnd type="arrow" w="sm" len="sm"/>
          </a:ln>
        </p:spPr>
      </p:cxnSp>
      <p:cxnSp>
        <p:nvCxnSpPr>
          <p:cNvPr id="28" name=""/>
          <p:cNvCxnSpPr>
            <a:stCxn xmlns:a="http://schemas.openxmlformats.org/drawingml/2006/main" id="19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 flipV="1">
            <a:off x="4819650" y="3067050"/>
            <a:ext cx="800100" cy="11239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31506C"/>
            </a:solidFill>
            <a:prstDash val="solid"/>
            <a:tailEnd type="arrow" w="sm" len="sm"/>
          </a:ln>
        </p:spPr>
      </p:cxnSp>
      <p:cxnSp>
        <p:nvCxnSpPr>
          <p:cNvPr id="29" name=""/>
          <p:cNvCxnSpPr>
            <a:stCxn xmlns:a="http://schemas.openxmlformats.org/drawingml/2006/main" id="19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4819650" y="4191000"/>
            <a:ext cx="800100" cy="4191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31506C"/>
            </a:solidFill>
            <a:prstDash val="solid"/>
            <a:tailEnd type="arrow" w="sm" len="sm"/>
          </a:ln>
        </p:spPr>
      </p:cxnSp>
      <p:cxnSp>
        <p:nvCxnSpPr>
          <p:cNvPr id="30" name=""/>
          <p:cNvCxnSpPr>
            <a:stCxn xmlns:a="http://schemas.openxmlformats.org/drawingml/2006/main" id="21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 flipH="1">
            <a:off x="5619750" y="3067050"/>
            <a:ext cx="1809750" cy="15430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31506C"/>
            </a:solidFill>
            <a:prstDash val="solid"/>
            <a:tailEnd type="arrow" w="sm" len="sm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7A8ACD-8776-4F99-949A-25E434AE4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14500"/>
            <a:ext cx="3162300" cy="428625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10263D"/>
          </a:solidFill>
          <a:ln xmlns:a="http://schemas.openxmlformats.org/drawingml/2006/main" w="9525">
            <a:solidFill>
              <a:srgbClr val="31506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4A3CC9-9189-4235-A804-E9C234581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943100"/>
            <a:ext cx="2705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Review what changes together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A3C9D8-1D3D-481A-90BA-B26CD4E5D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562225"/>
            <a:ext cx="66675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3FF"/>
          </a:solidFill>
          <a:ln xmlns:a="http://schemas.openxmlformats.org/drawingml/2006/main" w="0">
            <a:solidFill>
              <a:srgbClr val="1683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C09A7A1-E379-4218-BF5E-C27616004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24125"/>
            <a:ext cx="2333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Search + filter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385BCC7-0A0E-49B4-8B20-C745C0F03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09875"/>
            <a:ext cx="2333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7E4F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7E4F2"/>
                </a:solidFill>
                <a:latin typeface="Aptos"/>
                <a:ea typeface="Aptos"/>
                <a:cs typeface="Aptos"/>
              </a:rPr>
              <a:t>Find resources by address, action, or risk.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6AE9157-75DD-4AAD-89B3-719FD73D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81375"/>
            <a:ext cx="66675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547"/>
          </a:solidFill>
          <a:ln xmlns:a="http://schemas.openxmlformats.org/drawingml/2006/main" w="0">
            <a:solidFill>
              <a:srgbClr val="FFB54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AD3A52A-7518-4024-B4C9-141ECC549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43275"/>
            <a:ext cx="2333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Trace blast radius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0BCC9A0-12EC-4CDA-A8F3-5A2AC59D2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29025"/>
            <a:ext cx="2333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7E4F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7E4F2"/>
                </a:solidFill>
                <a:latin typeface="Aptos"/>
                <a:ea typeface="Aptos"/>
                <a:cs typeface="Aptos"/>
              </a:rPr>
              <a:t>Highlight direct and connected change impact.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5F79783-EA92-4EC8-9A88-664475928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200525"/>
            <a:ext cx="66675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CB8C"/>
          </a:solidFill>
          <a:ln xmlns:a="http://schemas.openxmlformats.org/drawingml/2006/main" w="0">
            <a:solidFill>
              <a:srgbClr val="2CCB8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566F576-5B82-41A7-8C43-240D13C54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162425"/>
            <a:ext cx="2333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Export structure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0C02C80-4216-4FFE-8817-4333E9579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448175"/>
            <a:ext cx="2333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7E4F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7E4F2"/>
                </a:solidFill>
                <a:latin typeface="Aptos"/>
                <a:ea typeface="Aptos"/>
                <a:cs typeface="Aptos"/>
              </a:rPr>
              <a:t>Export an SVG without resolved secrets.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4F33416-2BD8-4592-A5AF-E01943AF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143500"/>
            <a:ext cx="27051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81D33"/>
          </a:solidFill>
          <a:ln xmlns:a="http://schemas.openxmlformats.org/drawingml/2006/main" w="9525">
            <a:solidFill>
              <a:srgbClr val="31506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1544189-5685-4AC4-93D0-C84B7458E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210175"/>
            <a:ext cx="2438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2C5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32C5FF"/>
                </a:solidFill>
                <a:latin typeface="Aptos Mono"/>
                <a:ea typeface="Aptos Mono"/>
                <a:cs typeface="Aptos Mono"/>
              </a:rPr>
              <a:t>Open Terraform Plan Architecture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86FC7C7-B234-401D-B02B-9C293BAFD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8FA9C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8FA9C2"/>
                </a:solidFill>
                <a:latin typeface="Aptos"/>
                <a:ea typeface="Aptos"/>
                <a:cs typeface="Aptos"/>
              </a:rPr>
              <a:t>Usage scenario: open and explore plan architecture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8CF0924-7CB6-4E3A-8CDB-8EDA2539D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6534150"/>
            <a:ext cx="18764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B54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B547"/>
                </a:solidFill>
                <a:latin typeface="Aptos"/>
                <a:ea typeface="Aptos"/>
                <a:cs typeface="Aptos"/>
              </a:rPr>
              <a:t>0.1.2  |  PUBLIC PREVIEW</a:t>
            </a:r>
          </a:p>
        </p:txBody>
      </p:sp>
    </p:spTree>
    <p:extLst>
      <p:ext uri="{BB962C8B-B14F-4D97-AF65-F5344CB8AC3E}">
        <p14:creationId xmlns:p14="http://schemas.microsoft.com/office/powerpoint/2010/main" val="18958532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8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0b7276158348f2"/>
          <a:stretch xmlns:a="http://schemas.openxmlformats.org/drawingml/2006/main"/>
        </p:blipFill>
        <p:spPr>
          <a:xfrm xmlns:a="http://schemas.openxmlformats.org/drawingml/2006/main">
            <a:off x="457200" y="304800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69ECA70-4364-44AB-8E42-54FAE968D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385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2C5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2C5FF"/>
                </a:solidFill>
                <a:latin typeface="Aptos"/>
                <a:ea typeface="Aptos"/>
                <a:cs typeface="Aptos"/>
              </a:rPr>
              <a:t>AZURE IaC GUARDRAIL  |  CLOUD CANVAS PREVIEW</a:t>
            </a:r>
          </a:p>
        </p:txBody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C98DFC5-1960-4557-BDE8-4BF966DA3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528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C5FF"/>
          </a:solidFill>
          <a:ln xmlns:a="http://schemas.openxmlformats.org/drawingml/2006/main" w="0">
            <a:solidFill>
              <a:srgbClr val="32C5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6B4CD5-C6E5-440C-A8BA-09CEFD3B3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2925"/>
            <a:ext cx="9906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Design governed architecture before generating Terraform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4CD933-F217-405C-A725-B7967C79D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000125"/>
            <a:ext cx="942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E4F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7E4F2"/>
                </a:solidFill>
                <a:latin typeface="Aptos"/>
                <a:ea typeface="Aptos"/>
                <a:cs typeface="Aptos"/>
              </a:rPr>
              <a:t>Cloud Canvas connects design intent to Terraform preview while keeping unsupported services diagram-only.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0A42E7-DC79-467A-A3D0-73192ED0E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FA9C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FA9C2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1401D1-9B46-4220-A7B6-0AA0BEC4B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7524750" cy="4457700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081D33"/>
          </a:solidFill>
          <a:ln xmlns:a="http://schemas.openxmlformats.org/drawingml/2006/main" w="9525">
            <a:solidFill>
              <a:srgbClr val="31506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69E73D-8A73-49D3-8297-FF4C8840F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2C5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2C5FF"/>
                </a:solidFill>
                <a:latin typeface="Aptos"/>
                <a:ea typeface="Aptos"/>
                <a:cs typeface="Aptos"/>
              </a:rPr>
              <a:t>ARCHITECTURE WORKSPACE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68AEDC-FB73-4220-9030-7E7E3CBD8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847850"/>
            <a:ext cx="876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683FF"/>
          </a:solidFill>
          <a:ln xmlns:a="http://schemas.openxmlformats.org/drawingml/2006/main" w="9525">
            <a:solidFill>
              <a:srgbClr val="1683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86D106-C1E9-4647-9BB4-0B344D0BA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885950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UNDO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9E73B8-49EC-4998-A0A6-EE629D9A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47850"/>
            <a:ext cx="876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CCB8C"/>
          </a:solidFill>
          <a:ln xmlns:a="http://schemas.openxmlformats.org/drawingml/2006/main" w="9525">
            <a:solidFill>
              <a:srgbClr val="2CCB8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2D547D-0C4B-4FED-805A-225461706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885950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EXPORT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50154F-A0F5-4226-B0AE-87A19BEFC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24150"/>
            <a:ext cx="1714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0263D"/>
          </a:solidFill>
          <a:ln xmlns:a="http://schemas.openxmlformats.org/drawingml/2006/main" w="14288">
            <a:solidFill>
              <a:srgbClr val="2CCB8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98C998-BDA3-454D-AEAB-F5831A578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14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CB8C"/>
          </a:solidFill>
          <a:ln xmlns:a="http://schemas.openxmlformats.org/drawingml/2006/main" w="0">
            <a:solidFill>
              <a:srgbClr val="2CCB8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E2907B-640D-4692-A06D-C96A8F2D7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5750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Web App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E217CF-39F6-43CD-949D-A608A6DC4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1945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CCB8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CCB8C"/>
                </a:solidFill>
                <a:latin typeface="Aptos"/>
                <a:ea typeface="Aptos"/>
                <a:cs typeface="Aptos"/>
              </a:rPr>
              <a:t>approved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DACB8A-1F00-4323-A8CE-8C86FDD52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81250"/>
            <a:ext cx="1714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0263D"/>
          </a:solidFill>
          <a:ln xmlns:a="http://schemas.openxmlformats.org/drawingml/2006/main" w="14288">
            <a:solidFill>
              <a:srgbClr val="2CCB8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30526C-0492-4D40-AA55-03449E1E3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571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CB8C"/>
          </a:solidFill>
          <a:ln xmlns:a="http://schemas.openxmlformats.org/drawingml/2006/main" w="0">
            <a:solidFill>
              <a:srgbClr val="2CCB8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D76B69-6ADA-4719-88D6-966F373F9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1460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Service Bus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323618-A9D4-4985-9350-9549B6495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7655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CCB8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CCB8C"/>
                </a:solidFill>
                <a:latin typeface="Aptos"/>
                <a:ea typeface="Aptos"/>
                <a:cs typeface="Aptos"/>
              </a:rPr>
              <a:t>approved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F84C38-713E-4FF3-9BA1-FD6052AB9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81450"/>
            <a:ext cx="1714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0263D"/>
          </a:solidFill>
          <a:ln xmlns:a="http://schemas.openxmlformats.org/drawingml/2006/main" w="14288">
            <a:solidFill>
              <a:srgbClr val="2CCB8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AB5F93-398B-4834-9F72-22571AEF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171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CB8C"/>
          </a:solidFill>
          <a:ln xmlns:a="http://schemas.openxmlformats.org/drawingml/2006/main" w="0">
            <a:solidFill>
              <a:srgbClr val="2CCB8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1BDAA0-F497-4740-B7C8-C336C8356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1480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Storage Account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2F92F3-730B-4395-977E-C88895DE1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7675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CCB8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CCB8C"/>
                </a:solidFill>
                <a:latin typeface="Aptos"/>
                <a:ea typeface="Aptos"/>
                <a:cs typeface="Aptos"/>
              </a:rPr>
              <a:t>approved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8F49F6-868C-4852-A3F0-B9A4A90DE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181350"/>
            <a:ext cx="1714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0263D"/>
          </a:solidFill>
          <a:ln xmlns:a="http://schemas.openxmlformats.org/drawingml/2006/main" w="14288">
            <a:solidFill>
              <a:srgbClr val="FFB54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F05101-85FA-4476-87C4-9580B75C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371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547"/>
          </a:solidFill>
          <a:ln xmlns:a="http://schemas.openxmlformats.org/drawingml/2006/main" w="0">
            <a:solidFill>
              <a:srgbClr val="FFB54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233404-2401-4671-B281-CDFDD2FDE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1470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Other service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C22E7A-37FD-42E8-8F5B-5C4C2C4D0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7665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B54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B547"/>
                </a:solidFill>
                <a:latin typeface="Aptos"/>
                <a:ea typeface="Aptos"/>
                <a:cs typeface="Aptos"/>
              </a:rPr>
              <a:t>diagram-only</a:t>
            </a:r>
          </a:p>
        </p:txBody>
      </p:sp>
      <p:cxnSp>
        <p:nvCxnSpPr>
          <p:cNvPr id="29" name=""/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2667000" y="2828925"/>
            <a:ext cx="666750" cy="3429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32C5FF"/>
            </a:solidFill>
            <a:prstDash val="solid"/>
            <a:tailEnd type="arrow" w="sm" len="sm"/>
          </a:ln>
        </p:spPr>
      </p:cxnSp>
      <p:cxnSp>
        <p:nvCxnSpPr>
          <p:cNvPr id="30" name=""/>
          <p:cNvCxnSpPr>
            <a:stCxn xmlns:a="http://schemas.openxmlformats.org/drawingml/2006/main" id="13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2667000" y="3171825"/>
            <a:ext cx="666750" cy="12573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32C5FF"/>
            </a:solidFill>
            <a:prstDash val="solid"/>
            <a:tailEnd type="arrow" w="sm" len="sm"/>
          </a:ln>
        </p:spPr>
      </p:cxnSp>
      <p:cxnSp>
        <p:nvCxnSpPr>
          <p:cNvPr id="31" name=""/>
          <p:cNvCxnSpPr>
            <a:stCxn xmlns:a="http://schemas.openxmlformats.org/drawingml/2006/main" id="17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5048250" y="2828925"/>
            <a:ext cx="666750" cy="8001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32C5FF"/>
            </a:solidFill>
            <a:prstDash val="solid"/>
            <a:tailEnd type="arrow" w="sm" len="sm"/>
          </a:ln>
        </p:spPr>
      </p:cxnSp>
      <p:cxnSp>
        <p:nvCxnSpPr>
          <p:cNvPr id="32" name=""/>
          <p:cNvCxnSpPr>
            <a:stCxn xmlns:a="http://schemas.openxmlformats.org/drawingml/2006/main" id="21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 flipV="1">
            <a:off x="5048250" y="3629025"/>
            <a:ext cx="666750" cy="8001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32C5FF"/>
            </a:solidFill>
            <a:prstDash val="solid"/>
            <a:tailEnd type="arrow" w="sm" len="sm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7F48031-FFBA-483E-990F-DE93E9676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95450"/>
            <a:ext cx="3448050" cy="4457700"/>
          </a:xfrm>
          <a:prstGeom xmlns:a="http://schemas.openxmlformats.org/drawingml/2006/main" prst="roundRect">
            <a:avLst>
              <a:gd name="adj" fmla="val 2210"/>
            </a:avLst>
          </a:prstGeom>
          <a:solidFill xmlns:a="http://schemas.openxmlformats.org/drawingml/2006/main">
            <a:srgbClr val="10263D"/>
          </a:solidFill>
          <a:ln xmlns:a="http://schemas.openxmlformats.org/drawingml/2006/main" w="9525">
            <a:solidFill>
              <a:srgbClr val="31506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4C1502C-4180-476A-BC9C-50C9D92E0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924050"/>
            <a:ext cx="2990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Design with review built in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2D90D24-4BFF-4E9B-B1AD-FF7268C82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514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C5FF"/>
          </a:solidFill>
          <a:ln xmlns:a="http://schemas.openxmlformats.org/drawingml/2006/main" w="0">
            <a:solidFill>
              <a:srgbClr val="32C5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62E3767-1301-4D55-9D9F-6136824CA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00300"/>
            <a:ext cx="2647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7E4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7E4F2"/>
                </a:solidFill>
                <a:latin typeface="Aptos"/>
                <a:ea typeface="Aptos"/>
                <a:cs typeface="Aptos"/>
              </a:rPr>
              <a:t>Searchable catalog + starting patterns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8C495E5-FD87-4B44-BB87-638C408CA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952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FF"/>
          </a:solidFill>
          <a:ln xmlns:a="http://schemas.openxmlformats.org/drawingml/2006/main" w="0">
            <a:solidFill>
              <a:srgbClr val="1683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17D7C6C-91CA-4759-B757-4830EA61E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38450"/>
            <a:ext cx="2647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7E4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7E4F2"/>
                </a:solidFill>
                <a:latin typeface="Aptos"/>
                <a:ea typeface="Aptos"/>
                <a:cs typeface="Aptos"/>
              </a:rPr>
              <a:t>Directional dependency connections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0CFDC9B-54FB-4DBA-BEF2-5B3ECE175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390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CB8C"/>
          </a:solidFill>
          <a:ln xmlns:a="http://schemas.openxmlformats.org/drawingml/2006/main" w="0">
            <a:solidFill>
              <a:srgbClr val="2CCB8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B031F0F-494F-4ECD-AFF5-84C188C78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76600"/>
            <a:ext cx="2647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7E4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7E4F2"/>
                </a:solidFill>
                <a:latin typeface="Aptos"/>
                <a:ea typeface="Aptos"/>
                <a:cs typeface="Aptos"/>
              </a:rPr>
              <a:t>Service-specific Terraform parameters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2660783-01DE-4D08-8508-5D269573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829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547"/>
          </a:solidFill>
          <a:ln xmlns:a="http://schemas.openxmlformats.org/drawingml/2006/main" w="0">
            <a:solidFill>
              <a:srgbClr val="FFB54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60CA25A-3C3E-4D16-93F7-FDFCA780B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714750"/>
            <a:ext cx="2647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7E4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7E4F2"/>
                </a:solidFill>
                <a:latin typeface="Aptos"/>
                <a:ea typeface="Aptos"/>
                <a:cs typeface="Aptos"/>
              </a:rPr>
              <a:t>Governance status before generation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8DFABA9-1544-4FEA-B162-54D4BB939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267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C5FF"/>
          </a:solidFill>
          <a:ln xmlns:a="http://schemas.openxmlformats.org/drawingml/2006/main" w="0">
            <a:solidFill>
              <a:srgbClr val="32C5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4E46F96-CBB3-4DE0-ADDD-2E33B82A8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152900"/>
            <a:ext cx="2647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7E4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7E4F2"/>
                </a:solidFill>
                <a:latin typeface="Aptos"/>
                <a:ea typeface="Aptos"/>
                <a:cs typeface="Aptos"/>
              </a:rPr>
              <a:t>Terraform preview, validation, and scan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1A3EAA2-1BE0-4EC1-888A-A2473E7AE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705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CB8C"/>
          </a:solidFill>
          <a:ln xmlns:a="http://schemas.openxmlformats.org/drawingml/2006/main" w="0">
            <a:solidFill>
              <a:srgbClr val="2CCB8C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3CE292C-E093-40C3-987B-0A8770D4C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91050"/>
            <a:ext cx="2647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7E4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7E4F2"/>
                </a:solidFill>
                <a:latin typeface="Aptos"/>
                <a:ea typeface="Aptos"/>
                <a:cs typeface="Aptos"/>
              </a:rPr>
              <a:t>PNG export and explicit generation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5357C9B-4D51-4AC2-B860-B1A3E941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219700"/>
            <a:ext cx="29908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81D33"/>
          </a:solidFill>
          <a:ln xmlns:a="http://schemas.openxmlformats.org/drawingml/2006/main" w="9525">
            <a:solidFill>
              <a:srgbClr val="31506C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7BB8067-45AF-4522-9AEA-FB605FF8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286375"/>
            <a:ext cx="2724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B54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B547"/>
                </a:solidFill>
                <a:latin typeface="Aptos Mono"/>
                <a:ea typeface="Aptos Mono"/>
                <a:cs typeface="Aptos Mono"/>
              </a:rPr>
              <a:t>Cloud Canvas (Preview)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C095C25-3714-4071-8C04-88CECD7DE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791200"/>
            <a:ext cx="29908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B54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B547"/>
                </a:solidFill>
                <a:latin typeface="Aptos"/>
                <a:ea typeface="Aptos"/>
                <a:cs typeface="Aptos"/>
              </a:rPr>
              <a:t>Generated Terraform is scaffolding, not deployment approval.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E9E13DB-AC98-4AE4-B946-05355A5B6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8FA9C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8FA9C2"/>
                </a:solidFill>
                <a:latin typeface="Aptos"/>
                <a:ea typeface="Aptos"/>
                <a:cs typeface="Aptos"/>
              </a:rPr>
              <a:t>Usage scenario: preview Cloud Canvas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72422AF-7DFA-4738-A17F-734724A7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6534150"/>
            <a:ext cx="18764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B54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B547"/>
                </a:solidFill>
                <a:latin typeface="Aptos"/>
                <a:ea typeface="Aptos"/>
                <a:cs typeface="Aptos"/>
              </a:rPr>
              <a:t>0.1.2  |  PUBLIC PREVIEW</a:t>
            </a:r>
          </a:p>
        </p:txBody>
      </p:sp>
    </p:spTree>
    <p:extLst>
      <p:ext uri="{BB962C8B-B14F-4D97-AF65-F5344CB8AC3E}">
        <p14:creationId xmlns:p14="http://schemas.microsoft.com/office/powerpoint/2010/main" val="11871749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2026-06-15T10:05:38.1430000Z</dcterms:created>
  <dcterms:modified xsi:type="dcterms:W3CDTF">2026-06-15T10:05:38.1430000Z</dcterms:modified>
</coreProperties>
</file>